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60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6BF405-6F73-4BF4-9345-D65A6E5D7CDD}" type="datetimeFigureOut">
              <a:t>2026/10/13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6DE6-0B43-4AA2-B586-BAF7D56E05E6}" type="slidenum"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94700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oai/share/fcg_deck/.image-cover-cache/e267fb331e99580eafc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B">
              <a:alpha val="72000"/>
            </a:srgbClr>
          </a:solidFill>
          <a:ln w="12700">
            <a:solidFill>
              <a:srgbClr val="0809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1"/>
          <p:cNvSpPr/>
          <p:nvPr/>
        </p:nvSpPr>
        <p:spPr>
          <a:xfrm>
            <a:off x="0" y="2667000"/>
            <a:ext cx="12192000" cy="4191000"/>
          </a:xfrm>
          <a:prstGeom prst="rect">
            <a:avLst/>
          </a:prstGeom>
          <a:solidFill>
            <a:srgbClr val="000000">
              <a:alpha val="7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2"/>
          <p:cNvSpPr/>
          <p:nvPr/>
        </p:nvSpPr>
        <p:spPr>
          <a:xfrm>
            <a:off x="609600" y="514350"/>
            <a:ext cx="4000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70" dirty="0">
                <a:solidFill>
                  <a:srgbClr val="B7FF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 ASUS UGEN AI LEAGUE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 flipV="1">
            <a:off x="609599" y="742950"/>
            <a:ext cx="2521527" cy="66675"/>
          </a:xfrm>
          <a:prstGeom prst="rect">
            <a:avLst/>
          </a:prstGeom>
          <a:solidFill>
            <a:srgbClr val="B7FF35"/>
          </a:solidFill>
          <a:ln w="12700">
            <a:solidFill>
              <a:srgbClr val="B7FF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4"/>
          <p:cNvSpPr/>
          <p:nvPr/>
        </p:nvSpPr>
        <p:spPr>
          <a:xfrm>
            <a:off x="609600" y="2914650"/>
            <a:ext cx="68580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555" b="1" kern="0" spc="-60" dirty="0">
                <a:solidFill>
                  <a:srgbClr val="F4F6F3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FORMOSA</a:t>
            </a:r>
            <a:endParaRPr lang="en-US" sz="4555" dirty="0"/>
          </a:p>
        </p:txBody>
      </p:sp>
      <p:sp>
        <p:nvSpPr>
          <p:cNvPr id="8" name="Text 5"/>
          <p:cNvSpPr/>
          <p:nvPr/>
        </p:nvSpPr>
        <p:spPr>
          <a:xfrm>
            <a:off x="609600" y="3857625"/>
            <a:ext cx="85725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555" b="1" kern="0" spc="-60" dirty="0">
                <a:solidFill>
                  <a:srgbClr val="F4F6F3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CARE GUARDIAN</a:t>
            </a:r>
            <a:endParaRPr lang="en-US" sz="4555" dirty="0"/>
          </a:p>
        </p:txBody>
      </p:sp>
      <p:sp>
        <p:nvSpPr>
          <p:cNvPr id="9" name="Text 6"/>
          <p:cNvSpPr/>
          <p:nvPr/>
        </p:nvSpPr>
        <p:spPr>
          <a:xfrm>
            <a:off x="647700" y="4953000"/>
            <a:ext cx="609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7FF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PRIVATE. LOCAL. READY TO ACT.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7700" y="5467350"/>
            <a:ext cx="1390650" cy="323850"/>
          </a:xfrm>
          <a:prstGeom prst="roundRect">
            <a:avLst>
              <a:gd name="adj" fmla="val 47059"/>
            </a:avLst>
          </a:prstGeom>
          <a:solidFill>
            <a:srgbClr val="182F31"/>
          </a:solidFill>
          <a:ln w="8890">
            <a:solidFill>
              <a:srgbClr val="20C8B6">
                <a:alpha val="62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8"/>
          <p:cNvSpPr/>
          <p:nvPr/>
        </p:nvSpPr>
        <p:spPr>
          <a:xfrm>
            <a:off x="742950" y="5562600"/>
            <a:ext cx="1200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0C8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EVERYDAY AI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171700" y="5467350"/>
            <a:ext cx="2171700" cy="323850"/>
          </a:xfrm>
          <a:prstGeom prst="roundRect">
            <a:avLst>
              <a:gd name="adj" fmla="val 47059"/>
            </a:avLst>
          </a:prstGeom>
          <a:solidFill>
            <a:srgbClr val="2A3522"/>
          </a:solidFill>
          <a:ln w="8890">
            <a:solidFill>
              <a:srgbClr val="B7FF35">
                <a:alpha val="62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0"/>
          <p:cNvSpPr/>
          <p:nvPr/>
        </p:nvSpPr>
        <p:spPr>
          <a:xfrm>
            <a:off x="2266950" y="5562600"/>
            <a:ext cx="1981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B7FF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BATTLEFIELD LIGHTNING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476750" y="5467350"/>
            <a:ext cx="1295400" cy="323850"/>
          </a:xfrm>
          <a:prstGeom prst="roundRect">
            <a:avLst>
              <a:gd name="adj" fmla="val 47059"/>
            </a:avLst>
          </a:prstGeom>
          <a:solidFill>
            <a:srgbClr val="182F31"/>
          </a:solidFill>
          <a:ln w="8890">
            <a:solidFill>
              <a:srgbClr val="20C8B6">
                <a:alpha val="62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2"/>
          <p:cNvSpPr/>
          <p:nvPr/>
        </p:nvSpPr>
        <p:spPr>
          <a:xfrm>
            <a:off x="4572000" y="5562600"/>
            <a:ext cx="11049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0C8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ONSITE TRACK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47700" y="6000750"/>
            <a:ext cx="495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Privacy-first edge care for aging in place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958940" y="6153150"/>
            <a:ext cx="46044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kern="0" spc="90" dirty="0">
                <a:solidFill>
                  <a:srgbClr val="A9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I PROPOSAL · FORMOSA CARE GUARDIAN</a:t>
            </a:r>
            <a:endParaRPr lang="en-US" sz="1200" dirty="0"/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A402E571-F9C4-7D66-7B9D-77E8D9CB10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9406" y="764721"/>
            <a:ext cx="5388429" cy="53884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361950"/>
            <a:ext cx="57150" cy="514350"/>
          </a:xfrm>
          <a:prstGeom prst="rect">
            <a:avLst/>
          </a:prstGeom>
          <a:solidFill>
            <a:srgbClr val="B7FF35"/>
          </a:solidFill>
          <a:ln w="12700">
            <a:solidFill>
              <a:srgbClr val="B7FF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781050" y="323850"/>
            <a:ext cx="857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20" b="1" dirty="0">
                <a:solidFill>
                  <a:srgbClr val="F4F6F3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BUILT TO WIN THE RIGHT SCORE</a:t>
            </a:r>
            <a:endParaRPr lang="en-US" sz="3120" dirty="0"/>
          </a:p>
        </p:txBody>
      </p:sp>
      <p:sp>
        <p:nvSpPr>
          <p:cNvPr id="4" name="Text 2"/>
          <p:cNvSpPr/>
          <p:nvPr/>
        </p:nvSpPr>
        <p:spPr>
          <a:xfrm>
            <a:off x="9391650" y="495300"/>
            <a:ext cx="2266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20C8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OFFICIAL EVALUATION → DESIGN COMMITMENTS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514350" y="1200150"/>
            <a:ext cx="6858000" cy="4438650"/>
          </a:xfrm>
          <a:prstGeom prst="roundRect">
            <a:avLst>
              <a:gd name="adj" fmla="val 3863"/>
            </a:avLst>
          </a:prstGeom>
          <a:solidFill>
            <a:srgbClr val="FDFFFA"/>
          </a:solidFill>
          <a:ln w="12700">
            <a:solidFill>
              <a:srgbClr val="F3FFDF">
                <a:alpha val="45000"/>
              </a:srgbClr>
            </a:solidFill>
            <a:prstDash val="solid"/>
          </a:ln>
          <a:effectLst>
            <a:outerShdw blurRad="152400" dist="38100" dir="2700000" algn="bl" rotWithShape="0">
              <a:srgbClr val="111827">
                <a:alpha val="34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781050" y="1428750"/>
            <a:ext cx="3143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70" dirty="0">
                <a:solidFill>
                  <a:srgbClr val="5354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WEIGHTED SCORE MODEL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81050" y="1943100"/>
            <a:ext cx="2213610" cy="819150"/>
          </a:xfrm>
          <a:prstGeom prst="rect">
            <a:avLst/>
          </a:prstGeom>
          <a:solidFill>
            <a:srgbClr val="B7FF35"/>
          </a:solidFill>
          <a:ln w="12700">
            <a:solidFill>
              <a:srgbClr val="0809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857250" y="2038350"/>
            <a:ext cx="206121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46" b="1" dirty="0">
                <a:solidFill>
                  <a:srgbClr val="111111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35%</a:t>
            </a:r>
            <a:endParaRPr lang="en-US" sz="2246" dirty="0"/>
          </a:p>
        </p:txBody>
      </p:sp>
      <p:sp>
        <p:nvSpPr>
          <p:cNvPr id="9" name="Text 7"/>
          <p:cNvSpPr/>
          <p:nvPr/>
        </p:nvSpPr>
        <p:spPr>
          <a:xfrm>
            <a:off x="857250" y="2419350"/>
            <a:ext cx="20612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FEASIBILITY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994660" y="1943100"/>
            <a:ext cx="1897380" cy="819150"/>
          </a:xfrm>
          <a:prstGeom prst="rect">
            <a:avLst/>
          </a:prstGeom>
          <a:solidFill>
            <a:srgbClr val="20C8B6"/>
          </a:solidFill>
          <a:ln w="12700">
            <a:solidFill>
              <a:srgbClr val="08090B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3070860" y="2038350"/>
            <a:ext cx="17449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46" b="1" dirty="0">
                <a:solidFill>
                  <a:srgbClr val="FFFFFF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30%</a:t>
            </a:r>
            <a:endParaRPr lang="en-US" sz="2246" dirty="0"/>
          </a:p>
        </p:txBody>
      </p:sp>
      <p:sp>
        <p:nvSpPr>
          <p:cNvPr id="12" name="Text 10"/>
          <p:cNvSpPr/>
          <p:nvPr/>
        </p:nvSpPr>
        <p:spPr>
          <a:xfrm>
            <a:off x="3070860" y="2419350"/>
            <a:ext cx="17449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INNOVATION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92040" y="1943100"/>
            <a:ext cx="1581150" cy="819150"/>
          </a:xfrm>
          <a:prstGeom prst="rect">
            <a:avLst/>
          </a:prstGeom>
          <a:solidFill>
            <a:srgbClr val="F4F6F3"/>
          </a:solidFill>
          <a:ln w="12700">
            <a:solidFill>
              <a:srgbClr val="08090B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4968240" y="2038350"/>
            <a:ext cx="1428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46" b="1" dirty="0">
                <a:solidFill>
                  <a:srgbClr val="111111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25%</a:t>
            </a:r>
            <a:endParaRPr lang="en-US" sz="2246" dirty="0"/>
          </a:p>
        </p:txBody>
      </p:sp>
      <p:sp>
        <p:nvSpPr>
          <p:cNvPr id="15" name="Text 13"/>
          <p:cNvSpPr/>
          <p:nvPr/>
        </p:nvSpPr>
        <p:spPr>
          <a:xfrm>
            <a:off x="4968240" y="2419350"/>
            <a:ext cx="1428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PRACTICAL VALUE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73190" y="1943100"/>
            <a:ext cx="632460" cy="819150"/>
          </a:xfrm>
          <a:prstGeom prst="rect">
            <a:avLst/>
          </a:prstGeom>
          <a:solidFill>
            <a:srgbClr val="FFB347"/>
          </a:solidFill>
          <a:ln w="12700">
            <a:solidFill>
              <a:srgbClr val="08090B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6549390" y="2038350"/>
            <a:ext cx="48006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46" b="1" dirty="0">
                <a:solidFill>
                  <a:srgbClr val="111111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10%</a:t>
            </a:r>
            <a:endParaRPr lang="en-US" sz="2246" dirty="0"/>
          </a:p>
        </p:txBody>
      </p:sp>
      <p:sp>
        <p:nvSpPr>
          <p:cNvPr id="18" name="Text 16"/>
          <p:cNvSpPr/>
          <p:nvPr/>
        </p:nvSpPr>
        <p:spPr>
          <a:xfrm>
            <a:off x="6549390" y="2419350"/>
            <a:ext cx="4800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81050" y="3105150"/>
            <a:ext cx="6324600" cy="438150"/>
          </a:xfrm>
          <a:prstGeom prst="roundRect">
            <a:avLst>
              <a:gd name="adj" fmla="val 19565"/>
            </a:avLst>
          </a:prstGeom>
          <a:solidFill>
            <a:srgbClr val="2A3522"/>
          </a:solidFill>
          <a:ln w="8890">
            <a:solidFill>
              <a:srgbClr val="547127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781050" y="3181350"/>
            <a:ext cx="38100" cy="285750"/>
          </a:xfrm>
          <a:prstGeom prst="rect">
            <a:avLst/>
          </a:prstGeom>
          <a:solidFill>
            <a:srgbClr val="B7FF35"/>
          </a:solidFill>
          <a:ln w="12700">
            <a:solidFill>
              <a:srgbClr val="B7FF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952500" y="3181350"/>
            <a:ext cx="1619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FF35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FEASIBILITY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686050" y="3181350"/>
            <a:ext cx="4191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Deployable UGen300 architecture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81050" y="3657600"/>
            <a:ext cx="6324600" cy="438150"/>
          </a:xfrm>
          <a:prstGeom prst="roundRect">
            <a:avLst>
              <a:gd name="adj" fmla="val 19565"/>
            </a:avLst>
          </a:prstGeom>
          <a:solidFill>
            <a:srgbClr val="182F31"/>
          </a:solidFill>
          <a:ln w="8890">
            <a:solidFill>
              <a:srgbClr val="1A5C58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781050" y="3733800"/>
            <a:ext cx="38100" cy="285750"/>
          </a:xfrm>
          <a:prstGeom prst="rect">
            <a:avLst/>
          </a:prstGeom>
          <a:solidFill>
            <a:srgbClr val="20C8B6"/>
          </a:solidFill>
          <a:ln w="12700">
            <a:solidFill>
              <a:srgbClr val="20C8B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952500" y="3733800"/>
            <a:ext cx="1619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C8B6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INNOVATION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686050" y="3733800"/>
            <a:ext cx="4191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Privacy-zone sensor fusion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81050" y="4210050"/>
            <a:ext cx="6324600" cy="438150"/>
          </a:xfrm>
          <a:prstGeom prst="roundRect">
            <a:avLst>
              <a:gd name="adj" fmla="val 19565"/>
            </a:avLst>
          </a:prstGeom>
          <a:solidFill>
            <a:srgbClr val="323438"/>
          </a:solidFill>
          <a:ln w="8890">
            <a:solidFill>
              <a:srgbClr val="6B6E7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6"/>
          <p:cNvSpPr/>
          <p:nvPr/>
        </p:nvSpPr>
        <p:spPr>
          <a:xfrm>
            <a:off x="781050" y="4286250"/>
            <a:ext cx="38100" cy="285750"/>
          </a:xfrm>
          <a:prstGeom prst="rect">
            <a:avLst/>
          </a:prstGeom>
          <a:solidFill>
            <a:srgbClr val="F4F6F3"/>
          </a:solidFill>
          <a:ln w="12700">
            <a:solidFill>
              <a:srgbClr val="F4F6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/>
          <p:nvPr/>
        </p:nvSpPr>
        <p:spPr>
          <a:xfrm>
            <a:off x="952500" y="4286250"/>
            <a:ext cx="1619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4F6F3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PRACTICAL VALUE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2686050" y="4286250"/>
            <a:ext cx="4191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Caregiver workflow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81050" y="4762500"/>
            <a:ext cx="6324600" cy="438150"/>
          </a:xfrm>
          <a:prstGeom prst="roundRect">
            <a:avLst>
              <a:gd name="adj" fmla="val 19565"/>
            </a:avLst>
          </a:prstGeom>
          <a:solidFill>
            <a:srgbClr val="332C24"/>
          </a:solidFill>
          <a:ln w="8890">
            <a:solidFill>
              <a:srgbClr val="6F542E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Shape 30"/>
          <p:cNvSpPr/>
          <p:nvPr/>
        </p:nvSpPr>
        <p:spPr>
          <a:xfrm>
            <a:off x="781050" y="4838700"/>
            <a:ext cx="38100" cy="285750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1"/>
          <p:cNvSpPr/>
          <p:nvPr/>
        </p:nvSpPr>
        <p:spPr>
          <a:xfrm>
            <a:off x="952500" y="4838700"/>
            <a:ext cx="1619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347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STORY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2686050" y="4838700"/>
            <a:ext cx="4191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human scenario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620000" y="1200150"/>
            <a:ext cx="4057650" cy="4438650"/>
          </a:xfrm>
          <a:prstGeom prst="roundRect">
            <a:avLst>
              <a:gd name="adj" fmla="val 4225"/>
            </a:avLst>
          </a:prstGeom>
          <a:solidFill>
            <a:srgbClr val="F3F4F4"/>
          </a:solidFill>
          <a:ln w="12700">
            <a:solidFill>
              <a:srgbClr val="D0D1D3">
                <a:alpha val="50000"/>
              </a:srgbClr>
            </a:solidFill>
            <a:prstDash val="solid"/>
          </a:ln>
          <a:effectLst>
            <a:outerShdw blurRad="152400" dist="38100" dir="2700000" algn="bl" rotWithShape="0">
              <a:srgbClr val="111827">
                <a:alpha val="34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6" name="Text 34"/>
          <p:cNvSpPr/>
          <p:nvPr/>
        </p:nvSpPr>
        <p:spPr>
          <a:xfrm>
            <a:off x="7924800" y="1466850"/>
            <a:ext cx="31432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78" b="1" dirty="0">
                <a:solidFill>
                  <a:srgbClr val="111111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STAGE I</a:t>
            </a:r>
            <a:endParaRPr lang="en-US" sz="2278" dirty="0"/>
          </a:p>
          <a:p>
            <a:pPr marL="0" indent="0">
              <a:buNone/>
            </a:pPr>
            <a:r>
              <a:rPr lang="en-US" sz="2278" b="1" dirty="0">
                <a:solidFill>
                  <a:srgbClr val="111111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COMPLIANCE</a:t>
            </a:r>
            <a:endParaRPr lang="en-US" sz="2278" dirty="0"/>
          </a:p>
        </p:txBody>
      </p:sp>
      <p:sp>
        <p:nvSpPr>
          <p:cNvPr id="37" name="Shape 35"/>
          <p:cNvSpPr/>
          <p:nvPr/>
        </p:nvSpPr>
        <p:spPr>
          <a:xfrm>
            <a:off x="7924800" y="2305050"/>
            <a:ext cx="3143250" cy="19050"/>
          </a:xfrm>
          <a:prstGeom prst="rect">
            <a:avLst/>
          </a:prstGeom>
          <a:solidFill>
            <a:srgbClr val="B7FF35"/>
          </a:solidFill>
          <a:ln w="12700">
            <a:solidFill>
              <a:srgbClr val="B7FF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Text 36"/>
          <p:cNvSpPr/>
          <p:nvPr/>
        </p:nvSpPr>
        <p:spPr>
          <a:xfrm>
            <a:off x="7924800" y="2571750"/>
            <a:ext cx="1028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505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LANGUAGE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048750" y="2552700"/>
            <a:ext cx="2190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35" b="1" dirty="0">
                <a:solidFill>
                  <a:srgbClr val="B7FF35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ENGLISH</a:t>
            </a:r>
            <a:endParaRPr lang="en-US" sz="1435" dirty="0"/>
          </a:p>
        </p:txBody>
      </p:sp>
      <p:sp>
        <p:nvSpPr>
          <p:cNvPr id="40" name="Text 38"/>
          <p:cNvSpPr/>
          <p:nvPr/>
        </p:nvSpPr>
        <p:spPr>
          <a:xfrm>
            <a:off x="7924800" y="3181350"/>
            <a:ext cx="1028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505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BODY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048750" y="3162300"/>
            <a:ext cx="2190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35" b="1" dirty="0">
                <a:solidFill>
                  <a:srgbClr val="B7FF35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MAX 20 SLIDES</a:t>
            </a:r>
            <a:endParaRPr lang="en-US" sz="1435" dirty="0"/>
          </a:p>
        </p:txBody>
      </p:sp>
      <p:sp>
        <p:nvSpPr>
          <p:cNvPr id="42" name="Text 40"/>
          <p:cNvSpPr/>
          <p:nvPr/>
        </p:nvSpPr>
        <p:spPr>
          <a:xfrm>
            <a:off x="7924800" y="3790950"/>
            <a:ext cx="1028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505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DEADLINE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048750" y="3771900"/>
            <a:ext cx="2190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35" b="1" dirty="0">
                <a:solidFill>
                  <a:srgbClr val="FFB347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14 OCT 2026</a:t>
            </a:r>
            <a:endParaRPr lang="en-US" sz="1435" dirty="0"/>
          </a:p>
        </p:txBody>
      </p:sp>
      <p:sp>
        <p:nvSpPr>
          <p:cNvPr id="44" name="Text 42"/>
          <p:cNvSpPr/>
          <p:nvPr/>
        </p:nvSpPr>
        <p:spPr>
          <a:xfrm>
            <a:off x="7924800" y="4400550"/>
            <a:ext cx="1028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505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9048750" y="4381500"/>
            <a:ext cx="2190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35" b="1" dirty="0">
                <a:solidFill>
                  <a:srgbClr val="B7FF35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LIGHTNING · ONSITE</a:t>
            </a:r>
            <a:endParaRPr lang="en-US" sz="1435" dirty="0"/>
          </a:p>
        </p:txBody>
      </p:sp>
      <p:sp>
        <p:nvSpPr>
          <p:cNvPr id="46" name="Shape 44"/>
          <p:cNvSpPr/>
          <p:nvPr/>
        </p:nvSpPr>
        <p:spPr>
          <a:xfrm>
            <a:off x="514350" y="5867400"/>
            <a:ext cx="11163300" cy="495300"/>
          </a:xfrm>
          <a:prstGeom prst="roundRect">
            <a:avLst>
              <a:gd name="adj" fmla="val 19231"/>
            </a:avLst>
          </a:prstGeom>
          <a:solidFill>
            <a:srgbClr val="171A1F"/>
          </a:solidFill>
          <a:ln w="10160">
            <a:solidFill>
              <a:srgbClr val="2A3036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7" name="Text 45"/>
          <p:cNvSpPr/>
          <p:nvPr/>
        </p:nvSpPr>
        <p:spPr>
          <a:xfrm>
            <a:off x="762000" y="5991225"/>
            <a:ext cx="1066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9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Feasibility leads the score — so the architecture must be more convincing than the ambition.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11049000" y="6496050"/>
            <a:ext cx="6286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9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/ 20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2450" y="266700"/>
            <a:ext cx="4095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20C8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AGING-IN-PLACE · PROBLEM DEFINITION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52450" y="457200"/>
            <a:ext cx="7810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82" b="1" dirty="0">
                <a:solidFill>
                  <a:srgbClr val="F4F6F3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ONE IN FIVE. TOO FEW HANDS.</a:t>
            </a:r>
            <a:endParaRPr lang="en-US" sz="3182" dirty="0"/>
          </a:p>
        </p:txBody>
      </p:sp>
      <p:sp>
        <p:nvSpPr>
          <p:cNvPr id="4" name="Text 2"/>
          <p:cNvSpPr/>
          <p:nvPr/>
        </p:nvSpPr>
        <p:spPr>
          <a:xfrm>
            <a:off x="8096250" y="571500"/>
            <a:ext cx="3543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B7FF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GAP IS CONTINUOUS, DIGNIFIED ATTENTION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52450" y="1257300"/>
            <a:ext cx="3568700" cy="1809750"/>
          </a:xfrm>
          <a:prstGeom prst="roundRect">
            <a:avLst>
              <a:gd name="adj" fmla="val 8421"/>
            </a:avLst>
          </a:prstGeom>
          <a:solidFill>
            <a:srgbClr val="FBFFF4"/>
          </a:solidFill>
          <a:ln w="12700">
            <a:solidFill>
              <a:srgbClr val="EFFFD3">
                <a:alpha val="55000"/>
              </a:srgbClr>
            </a:solidFill>
            <a:prstDash val="solid"/>
          </a:ln>
          <a:effectLst>
            <a:outerShdw blurRad="152400" dist="38100" dir="2700000" algn="bl" rotWithShape="0">
              <a:srgbClr val="111827">
                <a:alpha val="34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742950" y="1428750"/>
            <a:ext cx="438150" cy="38100"/>
          </a:xfrm>
          <a:prstGeom prst="rect">
            <a:avLst/>
          </a:prstGeom>
          <a:solidFill>
            <a:srgbClr val="B7FF35"/>
          </a:solidFill>
          <a:ln w="12700">
            <a:solidFill>
              <a:srgbClr val="B7FF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742950" y="1619250"/>
            <a:ext cx="31877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6" b="1" dirty="0">
                <a:solidFill>
                  <a:srgbClr val="111111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~20%</a:t>
            </a:r>
            <a:endParaRPr lang="en-US" sz="3806" dirty="0"/>
          </a:p>
        </p:txBody>
      </p:sp>
      <p:sp>
        <p:nvSpPr>
          <p:cNvPr id="8" name="Text 6"/>
          <p:cNvSpPr/>
          <p:nvPr/>
        </p:nvSpPr>
        <p:spPr>
          <a:xfrm>
            <a:off x="742950" y="2257425"/>
            <a:ext cx="3187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B7FF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TAIWAN IS 65+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2950" y="2562225"/>
            <a:ext cx="31877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354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Super-aged threshold: roughly one person in five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11650" y="1257300"/>
            <a:ext cx="3568700" cy="1809750"/>
          </a:xfrm>
          <a:prstGeom prst="roundRect">
            <a:avLst>
              <a:gd name="adj" fmla="val 8421"/>
            </a:avLst>
          </a:prstGeom>
          <a:solidFill>
            <a:srgbClr val="FFFBF5"/>
          </a:solidFill>
          <a:ln w="12700">
            <a:solidFill>
              <a:srgbClr val="FFEED7">
                <a:alpha val="55000"/>
              </a:srgbClr>
            </a:solidFill>
            <a:prstDash val="solid"/>
          </a:ln>
          <a:effectLst>
            <a:outerShdw blurRad="152400" dist="38100" dir="2700000" algn="bl" rotWithShape="0">
              <a:srgbClr val="111827">
                <a:alpha val="34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4502150" y="1428750"/>
            <a:ext cx="438150" cy="38100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4502150" y="1619250"/>
            <a:ext cx="31877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6" b="1" dirty="0">
                <a:solidFill>
                  <a:srgbClr val="111111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28–35%</a:t>
            </a:r>
            <a:endParaRPr lang="en-US" sz="3806" dirty="0"/>
          </a:p>
        </p:txBody>
      </p:sp>
      <p:sp>
        <p:nvSpPr>
          <p:cNvPr id="13" name="Text 11"/>
          <p:cNvSpPr/>
          <p:nvPr/>
        </p:nvSpPr>
        <p:spPr>
          <a:xfrm>
            <a:off x="4502150" y="2257425"/>
            <a:ext cx="3187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FB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ANNUAL FALL RANGE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02150" y="2562225"/>
            <a:ext cx="31877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453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Cited for older adults in the privacy-monitoring study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70850" y="1257300"/>
            <a:ext cx="3568700" cy="1809750"/>
          </a:xfrm>
          <a:prstGeom prst="roundRect">
            <a:avLst>
              <a:gd name="adj" fmla="val 8421"/>
            </a:avLst>
          </a:prstGeom>
          <a:solidFill>
            <a:srgbClr val="F3FCFB"/>
          </a:solidFill>
          <a:ln w="12700">
            <a:solidFill>
              <a:srgbClr val="CEF3EF">
                <a:alpha val="55000"/>
              </a:srgbClr>
            </a:solidFill>
            <a:prstDash val="solid"/>
          </a:ln>
          <a:effectLst>
            <a:outerShdw blurRad="152400" dist="38100" dir="2700000" algn="bl" rotWithShape="0">
              <a:srgbClr val="111827">
                <a:alpha val="34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8261350" y="1428750"/>
            <a:ext cx="438150" cy="38100"/>
          </a:xfrm>
          <a:prstGeom prst="rect">
            <a:avLst/>
          </a:prstGeom>
          <a:solidFill>
            <a:srgbClr val="20C8B6"/>
          </a:solidFill>
          <a:ln w="12700">
            <a:solidFill>
              <a:srgbClr val="20C8B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8261350" y="1619250"/>
            <a:ext cx="31877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6" b="1" dirty="0">
                <a:solidFill>
                  <a:srgbClr val="111111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24/7</a:t>
            </a:r>
            <a:endParaRPr lang="en-US" sz="3806" dirty="0"/>
          </a:p>
        </p:txBody>
      </p:sp>
      <p:sp>
        <p:nvSpPr>
          <p:cNvPr id="18" name="Text 16"/>
          <p:cNvSpPr/>
          <p:nvPr/>
        </p:nvSpPr>
        <p:spPr>
          <a:xfrm>
            <a:off x="8261350" y="2257425"/>
            <a:ext cx="3187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0C8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ATTENTION, NOT SURVEILLANCE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61350" y="2562225"/>
            <a:ext cx="31877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053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does not respect visit schedules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52450" y="3314700"/>
            <a:ext cx="4572000" cy="2609850"/>
          </a:xfrm>
          <a:prstGeom prst="roundRect">
            <a:avLst>
              <a:gd name="adj" fmla="val 5839"/>
            </a:avLst>
          </a:prstGeom>
          <a:solidFill>
            <a:srgbClr val="FDFFF9"/>
          </a:solidFill>
          <a:ln w="12700">
            <a:solidFill>
              <a:srgbClr val="F2FFDB">
                <a:alpha val="50000"/>
              </a:srgbClr>
            </a:solidFill>
            <a:prstDash val="solid"/>
          </a:ln>
          <a:effectLst>
            <a:outerShdw blurRad="152400" dist="38100" dir="2700000" algn="bl" rotWithShape="0">
              <a:srgbClr val="111827">
                <a:alpha val="34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800100" y="3543300"/>
            <a:ext cx="4000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10" b="1" dirty="0">
                <a:solidFill>
                  <a:srgbClr val="111111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ONE PERSON IN FIVE</a:t>
            </a:r>
            <a:endParaRPr lang="en-US" sz="1810" dirty="0"/>
          </a:p>
        </p:txBody>
      </p:sp>
      <p:sp>
        <p:nvSpPr>
          <p:cNvPr id="22" name="Shape 20"/>
          <p:cNvSpPr/>
          <p:nvPr/>
        </p:nvSpPr>
        <p:spPr>
          <a:xfrm>
            <a:off x="990600" y="4095750"/>
            <a:ext cx="323850" cy="323850"/>
          </a:xfrm>
          <a:prstGeom prst="ellipse">
            <a:avLst/>
          </a:prstGeom>
          <a:solidFill>
            <a:srgbClr val="B7FF35"/>
          </a:solidFill>
          <a:ln w="12700">
            <a:solidFill>
              <a:srgbClr val="B7FF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914400" y="4495800"/>
            <a:ext cx="476250" cy="781050"/>
          </a:xfrm>
          <a:prstGeom prst="roundRect">
            <a:avLst>
              <a:gd name="adj" fmla="val 36000"/>
            </a:avLst>
          </a:prstGeom>
          <a:solidFill>
            <a:srgbClr val="B7FF35"/>
          </a:solidFill>
          <a:ln w="12700">
            <a:solidFill>
              <a:srgbClr val="B7FF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1752600" y="4095750"/>
            <a:ext cx="323850" cy="323850"/>
          </a:xfrm>
          <a:prstGeom prst="ellipse">
            <a:avLst/>
          </a:prstGeom>
          <a:solidFill>
            <a:srgbClr val="3A3E44"/>
          </a:solidFill>
          <a:ln w="12700">
            <a:solidFill>
              <a:srgbClr val="3A3E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1676400" y="4495800"/>
            <a:ext cx="476250" cy="781050"/>
          </a:xfrm>
          <a:prstGeom prst="roundRect">
            <a:avLst>
              <a:gd name="adj" fmla="val 36000"/>
            </a:avLst>
          </a:prstGeom>
          <a:solidFill>
            <a:srgbClr val="3A3E44"/>
          </a:solidFill>
          <a:ln w="12700">
            <a:solidFill>
              <a:srgbClr val="3A3E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2514600" y="4095750"/>
            <a:ext cx="323850" cy="323850"/>
          </a:xfrm>
          <a:prstGeom prst="ellipse">
            <a:avLst/>
          </a:prstGeom>
          <a:solidFill>
            <a:srgbClr val="3A3E44"/>
          </a:solidFill>
          <a:ln w="12700">
            <a:solidFill>
              <a:srgbClr val="3A3E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2438400" y="4495800"/>
            <a:ext cx="476250" cy="781050"/>
          </a:xfrm>
          <a:prstGeom prst="roundRect">
            <a:avLst>
              <a:gd name="adj" fmla="val 36000"/>
            </a:avLst>
          </a:prstGeom>
          <a:solidFill>
            <a:srgbClr val="3A3E44"/>
          </a:solidFill>
          <a:ln w="12700">
            <a:solidFill>
              <a:srgbClr val="3A3E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6"/>
          <p:cNvSpPr/>
          <p:nvPr/>
        </p:nvSpPr>
        <p:spPr>
          <a:xfrm>
            <a:off x="3276600" y="4095750"/>
            <a:ext cx="323850" cy="323850"/>
          </a:xfrm>
          <a:prstGeom prst="ellipse">
            <a:avLst/>
          </a:prstGeom>
          <a:solidFill>
            <a:srgbClr val="3A3E44"/>
          </a:solidFill>
          <a:ln w="12700">
            <a:solidFill>
              <a:srgbClr val="3A3E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Shape 27"/>
          <p:cNvSpPr/>
          <p:nvPr/>
        </p:nvSpPr>
        <p:spPr>
          <a:xfrm>
            <a:off x="3200400" y="4495800"/>
            <a:ext cx="476250" cy="781050"/>
          </a:xfrm>
          <a:prstGeom prst="roundRect">
            <a:avLst>
              <a:gd name="adj" fmla="val 36000"/>
            </a:avLst>
          </a:prstGeom>
          <a:solidFill>
            <a:srgbClr val="3A3E44"/>
          </a:solidFill>
          <a:ln w="12700">
            <a:solidFill>
              <a:srgbClr val="3A3E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Shape 28"/>
          <p:cNvSpPr/>
          <p:nvPr/>
        </p:nvSpPr>
        <p:spPr>
          <a:xfrm>
            <a:off x="4038600" y="4095750"/>
            <a:ext cx="323850" cy="323850"/>
          </a:xfrm>
          <a:prstGeom prst="ellipse">
            <a:avLst/>
          </a:prstGeom>
          <a:solidFill>
            <a:srgbClr val="3A3E44"/>
          </a:solidFill>
          <a:ln w="12700">
            <a:solidFill>
              <a:srgbClr val="3A3E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Shape 29"/>
          <p:cNvSpPr/>
          <p:nvPr/>
        </p:nvSpPr>
        <p:spPr>
          <a:xfrm>
            <a:off x="3962400" y="4495800"/>
            <a:ext cx="476250" cy="781050"/>
          </a:xfrm>
          <a:prstGeom prst="roundRect">
            <a:avLst>
              <a:gd name="adj" fmla="val 36000"/>
            </a:avLst>
          </a:prstGeom>
          <a:solidFill>
            <a:srgbClr val="3A3E44"/>
          </a:solidFill>
          <a:ln w="12700">
            <a:solidFill>
              <a:srgbClr val="3A3E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Text 30"/>
          <p:cNvSpPr/>
          <p:nvPr/>
        </p:nvSpPr>
        <p:spPr>
          <a:xfrm>
            <a:off x="800100" y="5314950"/>
            <a:ext cx="4000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354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Taiwan's demographic shift turns an intermittent care model into a continuous attention problem.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353050" y="3314700"/>
            <a:ext cx="6286500" cy="2609850"/>
          </a:xfrm>
          <a:prstGeom prst="roundRect">
            <a:avLst>
              <a:gd name="adj" fmla="val 5839"/>
            </a:avLst>
          </a:prstGeom>
          <a:solidFill>
            <a:srgbClr val="F3FCFB"/>
          </a:solidFill>
          <a:ln w="12700">
            <a:solidFill>
              <a:srgbClr val="CEF3EF">
                <a:alpha val="55000"/>
              </a:srgbClr>
            </a:solidFill>
            <a:prstDash val="solid"/>
          </a:ln>
          <a:effectLst>
            <a:outerShdw blurRad="152400" dist="38100" dir="2700000" algn="bl" rotWithShape="0">
              <a:srgbClr val="111827">
                <a:alpha val="34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4" name="Text 32"/>
          <p:cNvSpPr/>
          <p:nvPr/>
        </p:nvSpPr>
        <p:spPr>
          <a:xfrm>
            <a:off x="5638800" y="3562350"/>
            <a:ext cx="2381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0C8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UNMET NEED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638800" y="4000500"/>
            <a:ext cx="381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C8B6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01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153150" y="4000500"/>
            <a:ext cx="495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6" b="1" dirty="0">
                <a:solidFill>
                  <a:srgbClr val="111111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DETECT RISK EARLY</a:t>
            </a:r>
            <a:endParaRPr lang="en-US" sz="1466" dirty="0"/>
          </a:p>
        </p:txBody>
      </p:sp>
      <p:sp>
        <p:nvSpPr>
          <p:cNvPr id="37" name="Text 35"/>
          <p:cNvSpPr/>
          <p:nvPr/>
        </p:nvSpPr>
        <p:spPr>
          <a:xfrm>
            <a:off x="6153150" y="4267200"/>
            <a:ext cx="495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053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Observe the event where it happens.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638800" y="4581525"/>
            <a:ext cx="381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C8B6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02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153150" y="4581525"/>
            <a:ext cx="495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6" b="1" dirty="0">
                <a:solidFill>
                  <a:srgbClr val="111111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ACT LOCALLY</a:t>
            </a:r>
            <a:endParaRPr lang="en-US" sz="1466" dirty="0"/>
          </a:p>
        </p:txBody>
      </p:sp>
      <p:sp>
        <p:nvSpPr>
          <p:cNvPr id="40" name="Text 38"/>
          <p:cNvSpPr/>
          <p:nvPr/>
        </p:nvSpPr>
        <p:spPr>
          <a:xfrm>
            <a:off x="6153150" y="4848225"/>
            <a:ext cx="495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053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not wait for a cloud round trip.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638800" y="5162550"/>
            <a:ext cx="381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FF35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03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153150" y="5162550"/>
            <a:ext cx="495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66" b="1" dirty="0">
                <a:solidFill>
                  <a:srgbClr val="111111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ESCALATE ONLY WHAT MATTERS</a:t>
            </a:r>
            <a:endParaRPr lang="en-US" sz="1466" dirty="0"/>
          </a:p>
        </p:txBody>
      </p:sp>
      <p:sp>
        <p:nvSpPr>
          <p:cNvPr id="43" name="Text 41"/>
          <p:cNvSpPr/>
          <p:nvPr/>
        </p:nvSpPr>
        <p:spPr>
          <a:xfrm>
            <a:off x="6153150" y="5429250"/>
            <a:ext cx="495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053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Send context, not a surveillance stream.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52450" y="6210300"/>
            <a:ext cx="10287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Sources: Yahoo/Bnext (Taiwan aging context); Applied Sciences 2024, 14(10), 4150 (fall range and privacy motivation).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0953750" y="6496050"/>
            <a:ext cx="685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9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/ 20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2450" y="266700"/>
            <a:ext cx="2476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FB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 SCENARIO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52450" y="476250"/>
            <a:ext cx="8572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95" b="1" dirty="0">
                <a:solidFill>
                  <a:srgbClr val="F4F6F3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MEET MS. LIN — AN ILLUSTRATIVE NIGHT</a:t>
            </a:r>
            <a:endParaRPr lang="en-US" sz="2995" dirty="0"/>
          </a:p>
        </p:txBody>
      </p:sp>
      <p:sp>
        <p:nvSpPr>
          <p:cNvPr id="4" name="Shape 2"/>
          <p:cNvSpPr/>
          <p:nvPr/>
        </p:nvSpPr>
        <p:spPr>
          <a:xfrm>
            <a:off x="9601200" y="457200"/>
            <a:ext cx="2038350" cy="323850"/>
          </a:xfrm>
          <a:prstGeom prst="roundRect">
            <a:avLst>
              <a:gd name="adj" fmla="val 47059"/>
            </a:avLst>
          </a:prstGeom>
          <a:solidFill>
            <a:srgbClr val="534229"/>
          </a:solidFill>
          <a:ln w="10160">
            <a:solidFill>
              <a:srgbClr val="FFB347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9715500" y="533400"/>
            <a:ext cx="1809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B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ILLUSTRATIVE SCENARIO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52450" y="1219200"/>
            <a:ext cx="11087100" cy="3486150"/>
          </a:xfrm>
          <a:prstGeom prst="roundRect">
            <a:avLst>
              <a:gd name="adj" fmla="val 4918"/>
            </a:avLst>
          </a:prstGeom>
          <a:solidFill>
            <a:srgbClr val="F5F6F6"/>
          </a:solidFill>
          <a:ln w="12700">
            <a:solidFill>
              <a:srgbClr val="D9DADB">
                <a:alpha val="50000"/>
              </a:srgbClr>
            </a:solidFill>
            <a:prstDash val="solid"/>
          </a:ln>
          <a:effectLst>
            <a:outerShdw blurRad="152400" dist="38100" dir="2700000" algn="bl" rotWithShape="0">
              <a:srgbClr val="111827">
                <a:alpha val="34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1809750" y="2286000"/>
            <a:ext cx="8572500" cy="38100"/>
          </a:xfrm>
          <a:prstGeom prst="rect">
            <a:avLst/>
          </a:prstGeom>
          <a:solidFill>
            <a:srgbClr val="4A4F55"/>
          </a:solidFill>
          <a:ln w="12700">
            <a:solidFill>
              <a:srgbClr val="0809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1809750" y="2286000"/>
            <a:ext cx="5715000" cy="38100"/>
          </a:xfrm>
          <a:prstGeom prst="rect">
            <a:avLst/>
          </a:prstGeom>
          <a:solidFill>
            <a:srgbClr val="20C8B6"/>
          </a:solidFill>
          <a:ln w="12700">
            <a:solidFill>
              <a:srgbClr val="20C8B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1485900" y="1981200"/>
            <a:ext cx="647700" cy="647700"/>
          </a:xfrm>
          <a:prstGeom prst="ellipse">
            <a:avLst/>
          </a:prstGeom>
          <a:solidFill>
            <a:srgbClr val="484A4E"/>
          </a:solidFill>
          <a:ln w="25400">
            <a:solidFill>
              <a:srgbClr val="F4F6F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1485900" y="2133600"/>
            <a:ext cx="647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5" b="1" dirty="0">
                <a:solidFill>
                  <a:srgbClr val="F4F6F3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01</a:t>
            </a:r>
            <a:endParaRPr lang="en-US" sz="1435" dirty="0"/>
          </a:p>
        </p:txBody>
      </p:sp>
      <p:sp>
        <p:nvSpPr>
          <p:cNvPr id="11" name="Text 9"/>
          <p:cNvSpPr/>
          <p:nvPr/>
        </p:nvSpPr>
        <p:spPr>
          <a:xfrm>
            <a:off x="666750" y="1562100"/>
            <a:ext cx="2286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20" dirty="0">
                <a:solidFill>
                  <a:srgbClr val="F4F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02:14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52450" y="2895600"/>
            <a:ext cx="2514600" cy="1428750"/>
          </a:xfrm>
          <a:prstGeom prst="roundRect">
            <a:avLst>
              <a:gd name="adj" fmla="val 8000"/>
            </a:avLst>
          </a:prstGeom>
          <a:solidFill>
            <a:srgbClr val="FEFFFE"/>
          </a:solidFill>
          <a:ln w="12700">
            <a:solidFill>
              <a:srgbClr val="FDFDFD">
                <a:alpha val="45000"/>
              </a:srgbClr>
            </a:solidFill>
            <a:prstDash val="solid"/>
          </a:ln>
          <a:effectLst>
            <a:outerShdw blurRad="127000" dist="25400" dir="2700000" algn="bl" rotWithShape="0">
              <a:srgbClr val="1F2937">
                <a:alpha val="3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723900" y="3105150"/>
            <a:ext cx="2171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4" b="1" dirty="0">
                <a:solidFill>
                  <a:srgbClr val="F4F6F3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RISES</a:t>
            </a:r>
            <a:endParaRPr lang="en-US" sz="1404" dirty="0"/>
          </a:p>
        </p:txBody>
      </p:sp>
      <p:sp>
        <p:nvSpPr>
          <p:cNvPr id="14" name="Text 12"/>
          <p:cNvSpPr/>
          <p:nvPr/>
        </p:nvSpPr>
        <p:spPr>
          <a:xfrm>
            <a:off x="723900" y="3467100"/>
            <a:ext cx="2171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354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Ms. Lin gets up without her walker.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43400" y="1981200"/>
            <a:ext cx="647700" cy="647700"/>
          </a:xfrm>
          <a:prstGeom prst="ellipse">
            <a:avLst/>
          </a:prstGeom>
          <a:solidFill>
            <a:srgbClr val="194040"/>
          </a:solidFill>
          <a:ln w="25400">
            <a:solidFill>
              <a:srgbClr val="20C8B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4343400" y="2133600"/>
            <a:ext cx="647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5" b="1" dirty="0">
                <a:solidFill>
                  <a:srgbClr val="20C8B6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02</a:t>
            </a:r>
            <a:endParaRPr lang="en-US" sz="1435" dirty="0"/>
          </a:p>
        </p:txBody>
      </p:sp>
      <p:sp>
        <p:nvSpPr>
          <p:cNvPr id="17" name="Text 15"/>
          <p:cNvSpPr/>
          <p:nvPr/>
        </p:nvSpPr>
        <p:spPr>
          <a:xfrm>
            <a:off x="3524250" y="1562100"/>
            <a:ext cx="2286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20" dirty="0">
                <a:solidFill>
                  <a:srgbClr val="20C8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SIGNAL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09950" y="2895600"/>
            <a:ext cx="2514600" cy="1428750"/>
          </a:xfrm>
          <a:prstGeom prst="roundRect">
            <a:avLst>
              <a:gd name="adj" fmla="val 8000"/>
            </a:avLst>
          </a:prstGeom>
          <a:solidFill>
            <a:srgbClr val="F4FCFB"/>
          </a:solidFill>
          <a:ln w="12700">
            <a:solidFill>
              <a:srgbClr val="D7F5F2">
                <a:alpha val="45000"/>
              </a:srgbClr>
            </a:solidFill>
            <a:prstDash val="solid"/>
          </a:ln>
          <a:effectLst>
            <a:outerShdw blurRad="127000" dist="25400" dir="2700000" algn="bl" rotWithShape="0">
              <a:srgbClr val="1F2937">
                <a:alpha val="3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3581400" y="3105150"/>
            <a:ext cx="2171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4" b="1" dirty="0">
                <a:solidFill>
                  <a:srgbClr val="20C8B6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ABRUPT DESCENT</a:t>
            </a:r>
            <a:endParaRPr lang="en-US" sz="1404" dirty="0"/>
          </a:p>
        </p:txBody>
      </p:sp>
      <p:sp>
        <p:nvSpPr>
          <p:cNvPr id="20" name="Text 18"/>
          <p:cNvSpPr/>
          <p:nvPr/>
        </p:nvSpPr>
        <p:spPr>
          <a:xfrm>
            <a:off x="3581400" y="3467100"/>
            <a:ext cx="2171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153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Bedroom mmWave responds—no camera recording.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200900" y="1981200"/>
            <a:ext cx="647700" cy="647700"/>
          </a:xfrm>
          <a:prstGeom prst="ellipse">
            <a:avLst/>
          </a:prstGeom>
          <a:solidFill>
            <a:srgbClr val="3A4C24"/>
          </a:solidFill>
          <a:ln w="25400">
            <a:solidFill>
              <a:srgbClr val="B7FF3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7200900" y="2133600"/>
            <a:ext cx="647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5" b="1" dirty="0">
                <a:solidFill>
                  <a:srgbClr val="B7FF35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03</a:t>
            </a:r>
            <a:endParaRPr lang="en-US" sz="1435" dirty="0"/>
          </a:p>
        </p:txBody>
      </p:sp>
      <p:sp>
        <p:nvSpPr>
          <p:cNvPr id="23" name="Text 21"/>
          <p:cNvSpPr/>
          <p:nvPr/>
        </p:nvSpPr>
        <p:spPr>
          <a:xfrm>
            <a:off x="6381750" y="1562100"/>
            <a:ext cx="2286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20" dirty="0">
                <a:solidFill>
                  <a:srgbClr val="B7FF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67450" y="2895600"/>
            <a:ext cx="2514600" cy="1428750"/>
          </a:xfrm>
          <a:prstGeom prst="roundRect">
            <a:avLst>
              <a:gd name="adj" fmla="val 8000"/>
            </a:avLst>
          </a:prstGeom>
          <a:solidFill>
            <a:srgbClr val="FBFFF5"/>
          </a:solidFill>
          <a:ln w="12700">
            <a:solidFill>
              <a:srgbClr val="F2FFDB">
                <a:alpha val="45000"/>
              </a:srgbClr>
            </a:solidFill>
            <a:prstDash val="solid"/>
          </a:ln>
          <a:effectLst>
            <a:outerShdw blurRad="127000" dist="25400" dir="2700000" algn="bl" rotWithShape="0">
              <a:srgbClr val="1F2937">
                <a:alpha val="3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6438900" y="3105150"/>
            <a:ext cx="2171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4" b="1" dirty="0">
                <a:solidFill>
                  <a:srgbClr val="B7FF35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LOCAL CHECK</a:t>
            </a:r>
            <a:endParaRPr lang="en-US" sz="1404" dirty="0"/>
          </a:p>
        </p:txBody>
      </p:sp>
      <p:sp>
        <p:nvSpPr>
          <p:cNvPr id="26" name="Text 24"/>
          <p:cNvSpPr/>
          <p:nvPr/>
        </p:nvSpPr>
        <p:spPr>
          <a:xfrm>
            <a:off x="6438900" y="3467100"/>
            <a:ext cx="2171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354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Voice asks if she is safe while posture and bed status are confirmed.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0058400" y="1981200"/>
            <a:ext cx="647700" cy="647700"/>
          </a:xfrm>
          <a:prstGeom prst="ellipse">
            <a:avLst/>
          </a:prstGeom>
          <a:solidFill>
            <a:srgbClr val="4A3C28"/>
          </a:solidFill>
          <a:ln w="2540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10058400" y="2133600"/>
            <a:ext cx="647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5" b="1" dirty="0">
                <a:solidFill>
                  <a:srgbClr val="FFB347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04</a:t>
            </a:r>
            <a:endParaRPr lang="en-US" sz="1435" dirty="0"/>
          </a:p>
        </p:txBody>
      </p:sp>
      <p:sp>
        <p:nvSpPr>
          <p:cNvPr id="29" name="Text 27"/>
          <p:cNvSpPr/>
          <p:nvPr/>
        </p:nvSpPr>
        <p:spPr>
          <a:xfrm>
            <a:off x="9239250" y="1562100"/>
            <a:ext cx="2286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20" dirty="0">
                <a:solidFill>
                  <a:srgbClr val="FFB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ESCALATE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124950" y="2895600"/>
            <a:ext cx="2514600" cy="1428750"/>
          </a:xfrm>
          <a:prstGeom prst="roundRect">
            <a:avLst>
              <a:gd name="adj" fmla="val 8000"/>
            </a:avLst>
          </a:prstGeom>
          <a:solidFill>
            <a:srgbClr val="FFFBF6"/>
          </a:solidFill>
          <a:ln w="12700">
            <a:solidFill>
              <a:srgbClr val="FFF1DE">
                <a:alpha val="45000"/>
              </a:srgbClr>
            </a:solidFill>
            <a:prstDash val="solid"/>
          </a:ln>
          <a:effectLst>
            <a:outerShdw blurRad="127000" dist="25400" dir="2700000" algn="bl" rotWithShape="0">
              <a:srgbClr val="1F2937">
                <a:alpha val="3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/>
          <p:nvPr/>
        </p:nvSpPr>
        <p:spPr>
          <a:xfrm>
            <a:off x="9296400" y="3105150"/>
            <a:ext cx="2171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4" b="1" dirty="0">
                <a:solidFill>
                  <a:srgbClr val="FFB347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CAREGIVER ALERT</a:t>
            </a:r>
            <a:endParaRPr lang="en-US" sz="1404" dirty="0"/>
          </a:p>
        </p:txBody>
      </p:sp>
      <p:sp>
        <p:nvSpPr>
          <p:cNvPr id="32" name="Text 30"/>
          <p:cNvSpPr/>
          <p:nvPr/>
        </p:nvSpPr>
        <p:spPr>
          <a:xfrm>
            <a:off x="9296400" y="3467100"/>
            <a:ext cx="2171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5453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Zone, confidence and time are sent—not raw media.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62000" y="4476750"/>
            <a:ext cx="1238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C8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PRIVATE ZONE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095500" y="4552950"/>
            <a:ext cx="9258300" cy="19050"/>
          </a:xfrm>
          <a:prstGeom prst="rect">
            <a:avLst/>
          </a:prstGeom>
          <a:solidFill>
            <a:srgbClr val="20C8B6"/>
          </a:solidFill>
          <a:ln w="12700">
            <a:solidFill>
              <a:srgbClr val="20C8B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Shape 33"/>
          <p:cNvSpPr/>
          <p:nvPr/>
        </p:nvSpPr>
        <p:spPr>
          <a:xfrm>
            <a:off x="552450" y="4953000"/>
            <a:ext cx="11087100" cy="1066800"/>
          </a:xfrm>
          <a:prstGeom prst="roundRect">
            <a:avLst>
              <a:gd name="adj" fmla="val 14286"/>
            </a:avLst>
          </a:prstGeom>
          <a:solidFill>
            <a:srgbClr val="FFFCF9"/>
          </a:solidFill>
          <a:ln w="12700">
            <a:solidFill>
              <a:srgbClr val="FFF2E0">
                <a:alpha val="48000"/>
              </a:srgbClr>
            </a:solidFill>
            <a:prstDash val="solid"/>
          </a:ln>
          <a:effectLst>
            <a:outerShdw blurRad="152400" dist="38100" dir="2700000" algn="bl" rotWithShape="0">
              <a:srgbClr val="111827">
                <a:alpha val="34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6" name="Text 34"/>
          <p:cNvSpPr/>
          <p:nvPr/>
        </p:nvSpPr>
        <p:spPr>
          <a:xfrm>
            <a:off x="857250" y="5191125"/>
            <a:ext cx="4857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4" b="1" dirty="0">
                <a:solidFill>
                  <a:srgbClr val="111111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THE PROMISE IS NOT CONSTANT SURVEILLANCE.</a:t>
            </a:r>
            <a:endParaRPr lang="en-US" sz="1504" dirty="0"/>
          </a:p>
        </p:txBody>
      </p:sp>
      <p:sp>
        <p:nvSpPr>
          <p:cNvPr id="37" name="Text 35"/>
          <p:cNvSpPr/>
          <p:nvPr/>
        </p:nvSpPr>
        <p:spPr>
          <a:xfrm>
            <a:off x="6286500" y="5162550"/>
            <a:ext cx="48577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34" b="1" dirty="0">
                <a:solidFill>
                  <a:srgbClr val="B7FF35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It is timely, minimum-necessary action.</a:t>
            </a:r>
            <a:endParaRPr lang="en-US" sz="1734" dirty="0"/>
          </a:p>
        </p:txBody>
      </p:sp>
      <p:sp>
        <p:nvSpPr>
          <p:cNvPr id="38" name="Text 36"/>
          <p:cNvSpPr/>
          <p:nvPr/>
        </p:nvSpPr>
        <p:spPr>
          <a:xfrm>
            <a:off x="857250" y="5657850"/>
            <a:ext cx="10287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453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informed by privacy-first smart-care requirements; it is not measured deployment evidence.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52450" y="6229350"/>
            <a:ext cx="762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Axiomtek / VISTATEC privacy-preserving smart-care case study.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0953750" y="6496050"/>
            <a:ext cx="685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9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/ 20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2450" y="266700"/>
            <a:ext cx="4762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20C8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NON-NEGOTIABLES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52450" y="476250"/>
            <a:ext cx="98107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70" b="1" dirty="0">
                <a:solidFill>
                  <a:srgbClr val="F4F6F3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DESIGN PRINCIPLES: DIGNITY BEFORE DATA</a:t>
            </a:r>
            <a:endParaRPr lang="en-US" sz="2870" dirty="0"/>
          </a:p>
        </p:txBody>
      </p:sp>
      <p:sp>
        <p:nvSpPr>
          <p:cNvPr id="4" name="Text 2"/>
          <p:cNvSpPr/>
          <p:nvPr/>
        </p:nvSpPr>
        <p:spPr>
          <a:xfrm>
            <a:off x="10953750" y="6496050"/>
            <a:ext cx="685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9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/ 20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52450" y="1257300"/>
            <a:ext cx="5448300" cy="1943100"/>
          </a:xfrm>
          <a:prstGeom prst="roundRect">
            <a:avLst>
              <a:gd name="adj" fmla="val 7843"/>
            </a:avLst>
          </a:prstGeom>
          <a:solidFill>
            <a:srgbClr val="FCFFF6"/>
          </a:solidFill>
          <a:ln w="12700">
            <a:solidFill>
              <a:srgbClr val="F2FFDB">
                <a:alpha val="48000"/>
              </a:srgbClr>
            </a:solidFill>
            <a:prstDash val="solid"/>
          </a:ln>
          <a:effectLst>
            <a:outerShdw blurRad="152400" dist="38100" dir="2700000" algn="bl" rotWithShape="0">
              <a:srgbClr val="111827">
                <a:alpha val="34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781050" y="1485900"/>
            <a:ext cx="514350" cy="514350"/>
          </a:xfrm>
          <a:prstGeom prst="ellipse">
            <a:avLst/>
          </a:prstGeom>
          <a:solidFill>
            <a:srgbClr val="B7FF35"/>
          </a:solidFill>
          <a:ln w="12700">
            <a:solidFill>
              <a:srgbClr val="B7FF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781050" y="1600200"/>
            <a:ext cx="514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4" b="1" dirty="0">
                <a:solidFill>
                  <a:srgbClr val="111111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L</a:t>
            </a:r>
            <a:endParaRPr lang="en-US" sz="1404" dirty="0"/>
          </a:p>
        </p:txBody>
      </p:sp>
      <p:sp>
        <p:nvSpPr>
          <p:cNvPr id="8" name="Text 6"/>
          <p:cNvSpPr/>
          <p:nvPr/>
        </p:nvSpPr>
        <p:spPr>
          <a:xfrm>
            <a:off x="1485900" y="1524000"/>
            <a:ext cx="4191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10" b="1" dirty="0">
                <a:solidFill>
                  <a:srgbClr val="B7FF35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LOCAL FIRST</a:t>
            </a:r>
            <a:endParaRPr lang="en-US" sz="1810" dirty="0"/>
          </a:p>
        </p:txBody>
      </p:sp>
      <p:sp>
        <p:nvSpPr>
          <p:cNvPr id="9" name="Text 7"/>
          <p:cNvSpPr/>
          <p:nvPr/>
        </p:nvSpPr>
        <p:spPr>
          <a:xfrm>
            <a:off x="1485900" y="2038350"/>
            <a:ext cx="417195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detection and basic actions continue without cloud access.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485900" y="2933700"/>
            <a:ext cx="3905250" cy="28575"/>
          </a:xfrm>
          <a:prstGeom prst="rect">
            <a:avLst/>
          </a:prstGeom>
          <a:solidFill>
            <a:srgbClr val="B7FF35"/>
          </a:solidFill>
          <a:ln w="12700">
            <a:solidFill>
              <a:srgbClr val="B7FF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6191250" y="1257300"/>
            <a:ext cx="5448300" cy="1943100"/>
          </a:xfrm>
          <a:prstGeom prst="roundRect">
            <a:avLst>
              <a:gd name="adj" fmla="val 7843"/>
            </a:avLst>
          </a:prstGeom>
          <a:solidFill>
            <a:srgbClr val="F5FDFC"/>
          </a:solidFill>
          <a:ln w="12700">
            <a:solidFill>
              <a:srgbClr val="D7F5F2">
                <a:alpha val="48000"/>
              </a:srgbClr>
            </a:solidFill>
            <a:prstDash val="solid"/>
          </a:ln>
          <a:effectLst>
            <a:outerShdw blurRad="152400" dist="38100" dir="2700000" algn="bl" rotWithShape="0">
              <a:srgbClr val="111827">
                <a:alpha val="34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6419850" y="1485900"/>
            <a:ext cx="514350" cy="514350"/>
          </a:xfrm>
          <a:prstGeom prst="ellipse">
            <a:avLst/>
          </a:prstGeom>
          <a:solidFill>
            <a:srgbClr val="20C8B6"/>
          </a:solidFill>
          <a:ln w="12700">
            <a:solidFill>
              <a:srgbClr val="20C8B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6419850" y="1600200"/>
            <a:ext cx="514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4" b="1" dirty="0">
                <a:solidFill>
                  <a:srgbClr val="FFFFFF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Z</a:t>
            </a:r>
            <a:endParaRPr lang="en-US" sz="1404" dirty="0"/>
          </a:p>
        </p:txBody>
      </p:sp>
      <p:sp>
        <p:nvSpPr>
          <p:cNvPr id="14" name="Text 12"/>
          <p:cNvSpPr/>
          <p:nvPr/>
        </p:nvSpPr>
        <p:spPr>
          <a:xfrm>
            <a:off x="7124700" y="1524000"/>
            <a:ext cx="4191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10" b="1" dirty="0">
                <a:solidFill>
                  <a:srgbClr val="20C8B6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SENSOR BY ZONE</a:t>
            </a:r>
            <a:endParaRPr lang="en-US" sz="1810" dirty="0"/>
          </a:p>
        </p:txBody>
      </p:sp>
      <p:sp>
        <p:nvSpPr>
          <p:cNvPr id="15" name="Text 13"/>
          <p:cNvSpPr/>
          <p:nvPr/>
        </p:nvSpPr>
        <p:spPr>
          <a:xfrm>
            <a:off x="7124700" y="2038350"/>
            <a:ext cx="417195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Consented RGB/IR in shared areas; mmWave, thermal or bed sensing in private areas.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124700" y="2933700"/>
            <a:ext cx="3905250" cy="28575"/>
          </a:xfrm>
          <a:prstGeom prst="rect">
            <a:avLst/>
          </a:prstGeom>
          <a:solidFill>
            <a:srgbClr val="20C8B6"/>
          </a:solidFill>
          <a:ln w="12700">
            <a:solidFill>
              <a:srgbClr val="20C8B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552450" y="3486150"/>
            <a:ext cx="5448300" cy="1943100"/>
          </a:xfrm>
          <a:prstGeom prst="roundRect">
            <a:avLst>
              <a:gd name="adj" fmla="val 7843"/>
            </a:avLst>
          </a:prstGeom>
          <a:solidFill>
            <a:srgbClr val="FFFCF7"/>
          </a:solidFill>
          <a:ln w="12700">
            <a:solidFill>
              <a:srgbClr val="FFF1DE">
                <a:alpha val="48000"/>
              </a:srgbClr>
            </a:solidFill>
            <a:prstDash val="solid"/>
          </a:ln>
          <a:effectLst>
            <a:outerShdw blurRad="152400" dist="38100" dir="2700000" algn="bl" rotWithShape="0">
              <a:srgbClr val="111827">
                <a:alpha val="34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781050" y="3714750"/>
            <a:ext cx="514350" cy="51435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781050" y="3829050"/>
            <a:ext cx="514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4" b="1" dirty="0">
                <a:solidFill>
                  <a:srgbClr val="111111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H</a:t>
            </a:r>
            <a:endParaRPr lang="en-US" sz="1404" dirty="0"/>
          </a:p>
        </p:txBody>
      </p:sp>
      <p:sp>
        <p:nvSpPr>
          <p:cNvPr id="20" name="Text 18"/>
          <p:cNvSpPr/>
          <p:nvPr/>
        </p:nvSpPr>
        <p:spPr>
          <a:xfrm>
            <a:off x="1485900" y="3752850"/>
            <a:ext cx="4191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10" b="1" dirty="0">
                <a:solidFill>
                  <a:srgbClr val="FFB347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HUMAN AUTHORITY</a:t>
            </a:r>
            <a:endParaRPr lang="en-US" sz="1810" dirty="0"/>
          </a:p>
        </p:txBody>
      </p:sp>
      <p:sp>
        <p:nvSpPr>
          <p:cNvPr id="21" name="Text 19"/>
          <p:cNvSpPr/>
          <p:nvPr/>
        </p:nvSpPr>
        <p:spPr>
          <a:xfrm>
            <a:off x="1485900" y="4267200"/>
            <a:ext cx="417195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recommends and escalates. Caregivers acknowledge, verify and resolve.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485900" y="5162550"/>
            <a:ext cx="3905250" cy="28575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6191250" y="3486150"/>
            <a:ext cx="5448300" cy="1943100"/>
          </a:xfrm>
          <a:prstGeom prst="roundRect">
            <a:avLst>
              <a:gd name="adj" fmla="val 7843"/>
            </a:avLst>
          </a:prstGeom>
          <a:solidFill>
            <a:srgbClr val="FCFFF6"/>
          </a:solidFill>
          <a:ln w="12700">
            <a:solidFill>
              <a:srgbClr val="F2FFDB">
                <a:alpha val="48000"/>
              </a:srgbClr>
            </a:solidFill>
            <a:prstDash val="solid"/>
          </a:ln>
          <a:effectLst>
            <a:outerShdw blurRad="152400" dist="38100" dir="2700000" algn="bl" rotWithShape="0">
              <a:srgbClr val="111827">
                <a:alpha val="34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6419850" y="3714750"/>
            <a:ext cx="514350" cy="514350"/>
          </a:xfrm>
          <a:prstGeom prst="ellipse">
            <a:avLst/>
          </a:prstGeom>
          <a:solidFill>
            <a:srgbClr val="B7FF35"/>
          </a:solidFill>
          <a:ln w="12700">
            <a:solidFill>
              <a:srgbClr val="B7FF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6419850" y="3829050"/>
            <a:ext cx="514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4" b="1" dirty="0">
                <a:solidFill>
                  <a:srgbClr val="111111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W</a:t>
            </a:r>
            <a:endParaRPr lang="en-US" sz="1404" dirty="0"/>
          </a:p>
        </p:txBody>
      </p:sp>
      <p:sp>
        <p:nvSpPr>
          <p:cNvPr id="26" name="Text 24"/>
          <p:cNvSpPr/>
          <p:nvPr/>
        </p:nvSpPr>
        <p:spPr>
          <a:xfrm>
            <a:off x="7124700" y="3752850"/>
            <a:ext cx="4191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10" b="1" dirty="0">
                <a:solidFill>
                  <a:srgbClr val="B7FF35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WORKFLOW FIT</a:t>
            </a:r>
            <a:endParaRPr lang="en-US" sz="1810" dirty="0"/>
          </a:p>
        </p:txBody>
      </p:sp>
      <p:sp>
        <p:nvSpPr>
          <p:cNvPr id="27" name="Text 25"/>
          <p:cNvSpPr/>
          <p:nvPr/>
        </p:nvSpPr>
        <p:spPr>
          <a:xfrm>
            <a:off x="7124700" y="4267200"/>
            <a:ext cx="417195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existing caregiver devices and routines—not another screen.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124700" y="5162550"/>
            <a:ext cx="3905250" cy="28575"/>
          </a:xfrm>
          <a:prstGeom prst="rect">
            <a:avLst/>
          </a:prstGeom>
          <a:solidFill>
            <a:srgbClr val="B7FF35"/>
          </a:solidFill>
          <a:ln w="12700">
            <a:solidFill>
              <a:srgbClr val="B7FF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/>
          <p:nvPr/>
        </p:nvSpPr>
        <p:spPr>
          <a:xfrm>
            <a:off x="552450" y="5810250"/>
            <a:ext cx="110871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10" b="1" kern="0" spc="110" dirty="0">
                <a:solidFill>
                  <a:srgbClr val="B7FF35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CARE ADOPTION IS A SYSTEM REQUIREMENT</a:t>
            </a:r>
            <a:endParaRPr lang="en-US" sz="181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2450" y="266700"/>
            <a:ext cx="400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30" dirty="0">
                <a:solidFill>
                  <a:srgbClr val="20C8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SCOPE CORRECTION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52450" y="476250"/>
            <a:ext cx="10382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8" b="1" dirty="0">
                <a:solidFill>
                  <a:srgbClr val="F4F6F3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THE SOLUTION: A QUIET EDGE CARE NODE</a:t>
            </a:r>
            <a:endParaRPr lang="en-US" sz="2808" dirty="0"/>
          </a:p>
        </p:txBody>
      </p:sp>
      <p:sp>
        <p:nvSpPr>
          <p:cNvPr id="4" name="Text 2"/>
          <p:cNvSpPr/>
          <p:nvPr/>
        </p:nvSpPr>
        <p:spPr>
          <a:xfrm>
            <a:off x="10953750" y="6496050"/>
            <a:ext cx="685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9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/ 20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52450" y="1238250"/>
            <a:ext cx="4953000" cy="4305300"/>
          </a:xfrm>
          <a:prstGeom prst="roundRect">
            <a:avLst>
              <a:gd name="adj" fmla="val 3540"/>
            </a:avLst>
          </a:prstGeom>
          <a:solidFill>
            <a:srgbClr val="FFFCF8"/>
          </a:solidFill>
          <a:ln w="12700">
            <a:solidFill>
              <a:srgbClr val="FFF1DE">
                <a:alpha val="50000"/>
              </a:srgbClr>
            </a:solidFill>
            <a:prstDash val="solid"/>
          </a:ln>
          <a:effectLst>
            <a:outerShdw blurRad="152400" dist="38100" dir="2700000" algn="bl" rotWithShape="0">
              <a:srgbClr val="111827">
                <a:alpha val="34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781050" y="1447800"/>
            <a:ext cx="4495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7" b="1" dirty="0">
                <a:solidFill>
                  <a:srgbClr val="FFB347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WHAT WE REMOVE</a:t>
            </a:r>
            <a:endParaRPr lang="en-US" sz="1747" dirty="0"/>
          </a:p>
        </p:txBody>
      </p:sp>
      <p:sp>
        <p:nvSpPr>
          <p:cNvPr id="7" name="Shape 5"/>
          <p:cNvSpPr/>
          <p:nvPr/>
        </p:nvSpPr>
        <p:spPr>
          <a:xfrm>
            <a:off x="781050" y="1866900"/>
            <a:ext cx="4495800" cy="19050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781050" y="2038350"/>
            <a:ext cx="4495800" cy="747713"/>
          </a:xfrm>
          <a:prstGeom prst="roundRect">
            <a:avLst>
              <a:gd name="adj" fmla="val 11465"/>
            </a:avLst>
          </a:prstGeom>
          <a:solidFill>
            <a:srgbClr val="2E2923"/>
          </a:solidFill>
          <a:ln w="7620">
            <a:solidFill>
              <a:srgbClr val="FFB347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933450" y="2152650"/>
            <a:ext cx="323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347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90650" y="2124075"/>
            <a:ext cx="3695700" cy="576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humanoid mechanics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81050" y="2900363"/>
            <a:ext cx="4495800" cy="747713"/>
          </a:xfrm>
          <a:prstGeom prst="roundRect">
            <a:avLst>
              <a:gd name="adj" fmla="val 11465"/>
            </a:avLst>
          </a:prstGeom>
          <a:solidFill>
            <a:srgbClr val="2E2923"/>
          </a:solidFill>
          <a:ln w="7620">
            <a:solidFill>
              <a:srgbClr val="FFB347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933450" y="3014663"/>
            <a:ext cx="323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347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90650" y="2986088"/>
            <a:ext cx="3695700" cy="576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Drone patrol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81050" y="3762375"/>
            <a:ext cx="4495800" cy="747713"/>
          </a:xfrm>
          <a:prstGeom prst="roundRect">
            <a:avLst>
              <a:gd name="adj" fmla="val 11465"/>
            </a:avLst>
          </a:prstGeom>
          <a:solidFill>
            <a:srgbClr val="2E2923"/>
          </a:solidFill>
          <a:ln w="7620">
            <a:solidFill>
              <a:srgbClr val="FFB347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933450" y="3876675"/>
            <a:ext cx="323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347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90650" y="3848100"/>
            <a:ext cx="3695700" cy="576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Cloud-dependent inference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81050" y="4624388"/>
            <a:ext cx="4495800" cy="747713"/>
          </a:xfrm>
          <a:prstGeom prst="roundRect">
            <a:avLst>
              <a:gd name="adj" fmla="val 11465"/>
            </a:avLst>
          </a:prstGeom>
          <a:solidFill>
            <a:srgbClr val="2E2923"/>
          </a:solidFill>
          <a:ln w="7620">
            <a:solidFill>
              <a:srgbClr val="FFB347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933450" y="4738688"/>
            <a:ext cx="323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347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90650" y="4710113"/>
            <a:ext cx="3695700" cy="576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new caregiver console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86550" y="1238250"/>
            <a:ext cx="4953000" cy="4305300"/>
          </a:xfrm>
          <a:prstGeom prst="roundRect">
            <a:avLst>
              <a:gd name="adj" fmla="val 3540"/>
            </a:avLst>
          </a:prstGeom>
          <a:solidFill>
            <a:srgbClr val="FCFFF7"/>
          </a:solidFill>
          <a:ln w="12700">
            <a:solidFill>
              <a:srgbClr val="F2FFDB">
                <a:alpha val="50000"/>
              </a:srgbClr>
            </a:solidFill>
            <a:prstDash val="solid"/>
          </a:ln>
          <a:effectLst>
            <a:outerShdw blurRad="152400" dist="38100" dir="2700000" algn="bl" rotWithShape="0">
              <a:srgbClr val="111827">
                <a:alpha val="34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6915150" y="1447800"/>
            <a:ext cx="4495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7" b="1" dirty="0">
                <a:solidFill>
                  <a:srgbClr val="B7FF35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WHAT WE BUILD</a:t>
            </a:r>
            <a:endParaRPr lang="en-US" sz="1747" dirty="0"/>
          </a:p>
        </p:txBody>
      </p:sp>
      <p:sp>
        <p:nvSpPr>
          <p:cNvPr id="22" name="Shape 20"/>
          <p:cNvSpPr/>
          <p:nvPr/>
        </p:nvSpPr>
        <p:spPr>
          <a:xfrm>
            <a:off x="6915150" y="1866900"/>
            <a:ext cx="4495800" cy="19050"/>
          </a:xfrm>
          <a:prstGeom prst="rect">
            <a:avLst/>
          </a:prstGeom>
          <a:solidFill>
            <a:srgbClr val="B7FF35"/>
          </a:solidFill>
          <a:ln w="12700">
            <a:solidFill>
              <a:srgbClr val="B7FF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6915150" y="2038350"/>
            <a:ext cx="4495800" cy="747713"/>
          </a:xfrm>
          <a:prstGeom prst="roundRect">
            <a:avLst>
              <a:gd name="adj" fmla="val 11465"/>
            </a:avLst>
          </a:prstGeom>
          <a:solidFill>
            <a:srgbClr val="273121"/>
          </a:solidFill>
          <a:ln w="7620">
            <a:solidFill>
              <a:srgbClr val="B7FF35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7067550" y="2152650"/>
            <a:ext cx="323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FF35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01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524750" y="2124075"/>
            <a:ext cx="3695700" cy="576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Compact room node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915150" y="2900363"/>
            <a:ext cx="4495800" cy="747713"/>
          </a:xfrm>
          <a:prstGeom prst="roundRect">
            <a:avLst>
              <a:gd name="adj" fmla="val 11465"/>
            </a:avLst>
          </a:prstGeom>
          <a:solidFill>
            <a:srgbClr val="273121"/>
          </a:solidFill>
          <a:ln w="7620">
            <a:solidFill>
              <a:srgbClr val="B7FF35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7067550" y="3014663"/>
            <a:ext cx="323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FF35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02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524750" y="2986088"/>
            <a:ext cx="3695700" cy="576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Approved sensor adapters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915150" y="3762375"/>
            <a:ext cx="4495800" cy="747713"/>
          </a:xfrm>
          <a:prstGeom prst="roundRect">
            <a:avLst>
              <a:gd name="adj" fmla="val 11465"/>
            </a:avLst>
          </a:prstGeom>
          <a:solidFill>
            <a:srgbClr val="273121"/>
          </a:solidFill>
          <a:ln w="7620">
            <a:solidFill>
              <a:srgbClr val="B7FF35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7067550" y="3876675"/>
            <a:ext cx="323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FF35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03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524750" y="3848100"/>
            <a:ext cx="3695700" cy="576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UGen300 local inference + policy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915150" y="4624388"/>
            <a:ext cx="4495800" cy="747713"/>
          </a:xfrm>
          <a:prstGeom prst="roundRect">
            <a:avLst>
              <a:gd name="adj" fmla="val 11465"/>
            </a:avLst>
          </a:prstGeom>
          <a:solidFill>
            <a:srgbClr val="273121"/>
          </a:solidFill>
          <a:ln w="7620">
            <a:solidFill>
              <a:srgbClr val="B7FF35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1"/>
          <p:cNvSpPr/>
          <p:nvPr/>
        </p:nvSpPr>
        <p:spPr>
          <a:xfrm>
            <a:off x="7067550" y="4738688"/>
            <a:ext cx="323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FF35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04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524750" y="4710113"/>
            <a:ext cx="3695700" cy="5762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Privacy-filtered alerts on existing devices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619750" y="2857500"/>
            <a:ext cx="952500" cy="876300"/>
          </a:xfrm>
          <a:prstGeom prst="roundRect">
            <a:avLst>
              <a:gd name="adj" fmla="val 19565"/>
            </a:avLst>
          </a:prstGeom>
          <a:solidFill>
            <a:srgbClr val="171A1F"/>
          </a:solidFill>
          <a:ln w="13970">
            <a:solidFill>
              <a:srgbClr val="20C8B6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Text 34"/>
          <p:cNvSpPr/>
          <p:nvPr/>
        </p:nvSpPr>
        <p:spPr>
          <a:xfrm>
            <a:off x="5772150" y="2952750"/>
            <a:ext cx="6477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0C8B6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STEP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0C8B6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BACK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0C8B6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→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10572750" y="1809750"/>
            <a:ext cx="400050" cy="1524000"/>
          </a:xfrm>
          <a:prstGeom prst="roundRect">
            <a:avLst>
              <a:gd name="adj" fmla="val 28571"/>
            </a:avLst>
          </a:prstGeom>
          <a:solidFill>
            <a:srgbClr val="3A3E44"/>
          </a:solidFill>
          <a:ln w="10160">
            <a:solidFill>
              <a:srgbClr val="B7FF35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Shape 36"/>
          <p:cNvSpPr/>
          <p:nvPr/>
        </p:nvSpPr>
        <p:spPr>
          <a:xfrm>
            <a:off x="10648950" y="2019300"/>
            <a:ext cx="247650" cy="28575"/>
          </a:xfrm>
          <a:prstGeom prst="rect">
            <a:avLst/>
          </a:prstGeom>
          <a:solidFill>
            <a:srgbClr val="B7FF35"/>
          </a:solidFill>
          <a:ln w="12700">
            <a:solidFill>
              <a:srgbClr val="B7FF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Shape 37"/>
          <p:cNvSpPr/>
          <p:nvPr/>
        </p:nvSpPr>
        <p:spPr>
          <a:xfrm>
            <a:off x="552450" y="5772150"/>
            <a:ext cx="11087100" cy="514350"/>
          </a:xfrm>
          <a:prstGeom prst="roundRect">
            <a:avLst>
              <a:gd name="adj" fmla="val 22222"/>
            </a:avLst>
          </a:prstGeom>
          <a:solidFill>
            <a:srgbClr val="171A1F"/>
          </a:solidFill>
          <a:ln w="10160">
            <a:solidFill>
              <a:srgbClr val="2A3036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Text 38"/>
          <p:cNvSpPr/>
          <p:nvPr/>
        </p:nvSpPr>
        <p:spPr>
          <a:xfrm>
            <a:off x="819150" y="5924550"/>
            <a:ext cx="10572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8" b="1" dirty="0">
                <a:solidFill>
                  <a:srgbClr val="B7FF35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ADD LOCAL INTELLIGENCE TO EXISTING ROOMS — DO NOT REDESIGN THE FACILITY</a:t>
            </a:r>
            <a:endParaRPr lang="en-US" sz="1498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2450" y="266700"/>
            <a:ext cx="438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20C8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LANDSCAPE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52450" y="476250"/>
            <a:ext cx="10287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8" b="1" dirty="0">
                <a:solidFill>
                  <a:srgbClr val="F4F6F3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GLOBAL PROOF POINTS — AND THEIR LIMITS</a:t>
            </a:r>
            <a:endParaRPr lang="en-US" sz="2808" dirty="0"/>
          </a:p>
        </p:txBody>
      </p:sp>
      <p:sp>
        <p:nvSpPr>
          <p:cNvPr id="4" name="Text 2"/>
          <p:cNvSpPr/>
          <p:nvPr/>
        </p:nvSpPr>
        <p:spPr>
          <a:xfrm>
            <a:off x="10953750" y="6496050"/>
            <a:ext cx="685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9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/ 20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52450" y="1238250"/>
            <a:ext cx="7810500" cy="4324350"/>
          </a:xfrm>
          <a:prstGeom prst="roundRect">
            <a:avLst>
              <a:gd name="adj" fmla="val 3084"/>
            </a:avLst>
          </a:prstGeom>
          <a:solidFill>
            <a:srgbClr val="F9FEFD"/>
          </a:solidFill>
          <a:ln w="12700">
            <a:solidFill>
              <a:srgbClr val="DBF6F3">
                <a:alpha val="48000"/>
              </a:srgbClr>
            </a:solidFill>
            <a:prstDash val="solid"/>
          </a:ln>
          <a:effectLst>
            <a:outerShdw blurRad="152400" dist="38100" dir="2700000" algn="bl" rotWithShape="0">
              <a:srgbClr val="111827">
                <a:alpha val="34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685800" y="1428750"/>
            <a:ext cx="1066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" dirty="0">
                <a:solidFill>
                  <a:srgbClr val="20C8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752600" y="1428750"/>
            <a:ext cx="1619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" dirty="0">
                <a:solidFill>
                  <a:srgbClr val="20C8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71850" y="1428750"/>
            <a:ext cx="27241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" dirty="0">
                <a:solidFill>
                  <a:srgbClr val="20C8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6000" y="1428750"/>
            <a:ext cx="20193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" dirty="0">
                <a:solidFill>
                  <a:srgbClr val="FFB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 / LIMIT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1752600"/>
            <a:ext cx="7543800" cy="590550"/>
          </a:xfrm>
          <a:prstGeom prst="roundRect">
            <a:avLst>
              <a:gd name="adj" fmla="val 11290"/>
            </a:avLst>
          </a:prstGeom>
          <a:solidFill>
            <a:srgbClr val="171A1F"/>
          </a:solidFill>
          <a:ln w="6350">
            <a:solidFill>
              <a:srgbClr val="2A303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800100" y="1828800"/>
            <a:ext cx="9144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B7FF35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JAPAN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866900" y="1828800"/>
            <a:ext cx="14668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4F6F3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AIREC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86150" y="1828800"/>
            <a:ext cx="2571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4F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Dressing, turning, transfers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0300" y="1828800"/>
            <a:ext cx="18669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A9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Promising; motion not yet fluid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2457450"/>
            <a:ext cx="7543800" cy="590550"/>
          </a:xfrm>
          <a:prstGeom prst="roundRect">
            <a:avLst>
              <a:gd name="adj" fmla="val 11290"/>
            </a:avLst>
          </a:prstGeom>
          <a:solidFill>
            <a:srgbClr val="182428"/>
          </a:solidFill>
          <a:ln w="6350">
            <a:solidFill>
              <a:srgbClr val="2A303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800100" y="2533650"/>
            <a:ext cx="9144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B7FF35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FRANCE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866900" y="2533650"/>
            <a:ext cx="14668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4F6F3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ATALANTE X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86150" y="2533650"/>
            <a:ext cx="2571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4F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Self-balancing rehabilitation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0300" y="2533650"/>
            <a:ext cx="18669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A9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5,000+ sessions · 650+ patients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3162300"/>
            <a:ext cx="7543800" cy="590550"/>
          </a:xfrm>
          <a:prstGeom prst="roundRect">
            <a:avLst>
              <a:gd name="adj" fmla="val 11290"/>
            </a:avLst>
          </a:prstGeom>
          <a:solidFill>
            <a:srgbClr val="171A1F"/>
          </a:solidFill>
          <a:ln w="6350">
            <a:solidFill>
              <a:srgbClr val="2A303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800100" y="3238500"/>
            <a:ext cx="9144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B7FF35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AUSTRIA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866900" y="3238500"/>
            <a:ext cx="14668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4F6F3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VITALISE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86150" y="3238500"/>
            <a:ext cx="2571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4F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Personalized robot coaching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10300" y="3238500"/>
            <a:ext cx="18669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9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months · 16 survivors · 6 therapists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85800" y="3867150"/>
            <a:ext cx="7543800" cy="590550"/>
          </a:xfrm>
          <a:prstGeom prst="roundRect">
            <a:avLst>
              <a:gd name="adj" fmla="val 11290"/>
            </a:avLst>
          </a:prstGeom>
          <a:solidFill>
            <a:srgbClr val="182428"/>
          </a:solidFill>
          <a:ln w="6350">
            <a:solidFill>
              <a:srgbClr val="2A303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800100" y="3943350"/>
            <a:ext cx="9144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B7FF35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TAIWAN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866900" y="3943350"/>
            <a:ext cx="14668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4F6F3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YUNLIN UNIVERSITY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86150" y="3943350"/>
            <a:ext cx="2571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4F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YOLOv8 person → 2D avatar + fall detection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10300" y="3943350"/>
            <a:ext cx="18669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A9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Privacy transformation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85800" y="4572000"/>
            <a:ext cx="7543800" cy="590550"/>
          </a:xfrm>
          <a:prstGeom prst="roundRect">
            <a:avLst>
              <a:gd name="adj" fmla="val 11290"/>
            </a:avLst>
          </a:prstGeom>
          <a:solidFill>
            <a:srgbClr val="171A1F"/>
          </a:solidFill>
          <a:ln w="6350">
            <a:solidFill>
              <a:srgbClr val="2A303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/>
          <p:nvPr/>
        </p:nvSpPr>
        <p:spPr>
          <a:xfrm>
            <a:off x="800100" y="4648200"/>
            <a:ext cx="9144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B7FF35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INDUSTRY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866900" y="4648200"/>
            <a:ext cx="14668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4F6F3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EDGE IMPULSE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86150" y="4648200"/>
            <a:ext cx="2571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4F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Edge ML fall detection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10300" y="4648200"/>
            <a:ext cx="18669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A9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Beyond thresholds · iterative firmware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591550" y="1238250"/>
            <a:ext cx="3048000" cy="4324350"/>
          </a:xfrm>
          <a:prstGeom prst="roundRect">
            <a:avLst>
              <a:gd name="adj" fmla="val 4375"/>
            </a:avLst>
          </a:prstGeom>
          <a:solidFill>
            <a:srgbClr val="FBFFF5"/>
          </a:solidFill>
          <a:ln w="12700">
            <a:solidFill>
              <a:srgbClr val="EFFFD3">
                <a:alpha val="55000"/>
              </a:srgbClr>
            </a:solidFill>
            <a:prstDash val="solid"/>
          </a:ln>
          <a:effectLst>
            <a:outerShdw blurRad="152400" dist="38100" dir="2700000" algn="bl" rotWithShape="0">
              <a:srgbClr val="111827">
                <a:alpha val="34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6" name="Text 34"/>
          <p:cNvSpPr/>
          <p:nvPr/>
        </p:nvSpPr>
        <p:spPr>
          <a:xfrm>
            <a:off x="8858250" y="1562100"/>
            <a:ext cx="25146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34" b="1" dirty="0">
                <a:solidFill>
                  <a:srgbClr val="B7FF35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NEAR-TERM</a:t>
            </a:r>
            <a:endParaRPr lang="en-US" sz="1934" dirty="0"/>
          </a:p>
          <a:p>
            <a:pPr marL="0" indent="0" algn="ctr">
              <a:buNone/>
            </a:pPr>
            <a:r>
              <a:rPr lang="en-US" sz="1934" b="1" dirty="0">
                <a:solidFill>
                  <a:srgbClr val="B7FF35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WINNER</a:t>
            </a:r>
            <a:endParaRPr lang="en-US" sz="1934" dirty="0"/>
          </a:p>
        </p:txBody>
      </p:sp>
      <p:sp>
        <p:nvSpPr>
          <p:cNvPr id="37" name="Shape 35"/>
          <p:cNvSpPr/>
          <p:nvPr/>
        </p:nvSpPr>
        <p:spPr>
          <a:xfrm>
            <a:off x="9144000" y="2400300"/>
            <a:ext cx="1943100" cy="28575"/>
          </a:xfrm>
          <a:prstGeom prst="rect">
            <a:avLst/>
          </a:prstGeom>
          <a:solidFill>
            <a:srgbClr val="B7FF35"/>
          </a:solidFill>
          <a:ln w="12700">
            <a:solidFill>
              <a:srgbClr val="B7FF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Text 36"/>
          <p:cNvSpPr/>
          <p:nvPr/>
        </p:nvSpPr>
        <p:spPr>
          <a:xfrm>
            <a:off x="8858250" y="2724150"/>
            <a:ext cx="25146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58" b="1" dirty="0">
                <a:solidFill>
                  <a:srgbClr val="111111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FOCUSED</a:t>
            </a:r>
            <a:endParaRPr lang="en-US" sz="2558" dirty="0"/>
          </a:p>
          <a:p>
            <a:pPr marL="0" indent="0" algn="ctr">
              <a:buNone/>
            </a:pPr>
            <a:r>
              <a:rPr lang="en-US" sz="2558" b="1" dirty="0">
                <a:solidFill>
                  <a:srgbClr val="111111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ASSISTANCE</a:t>
            </a:r>
            <a:endParaRPr lang="en-US" sz="2558" dirty="0"/>
          </a:p>
        </p:txBody>
      </p:sp>
      <p:sp>
        <p:nvSpPr>
          <p:cNvPr id="39" name="Text 37"/>
          <p:cNvSpPr/>
          <p:nvPr/>
        </p:nvSpPr>
        <p:spPr>
          <a:xfrm>
            <a:off x="9582150" y="3771900"/>
            <a:ext cx="106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B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858250" y="4171950"/>
            <a:ext cx="25146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8" b="1" dirty="0">
                <a:solidFill>
                  <a:srgbClr val="535451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GENERAL-PURPOSE</a:t>
            </a:r>
            <a:endParaRPr lang="en-US" sz="1498" dirty="0"/>
          </a:p>
          <a:p>
            <a:pPr marL="0" indent="0" algn="ctr">
              <a:buNone/>
            </a:pPr>
            <a:r>
              <a:rPr lang="en-US" sz="1498" b="1" dirty="0">
                <a:solidFill>
                  <a:srgbClr val="535451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ROBOTICS</a:t>
            </a:r>
            <a:endParaRPr lang="en-US" sz="1498" dirty="0"/>
          </a:p>
        </p:txBody>
      </p:sp>
      <p:sp>
        <p:nvSpPr>
          <p:cNvPr id="41" name="Text 39"/>
          <p:cNvSpPr/>
          <p:nvPr/>
        </p:nvSpPr>
        <p:spPr>
          <a:xfrm>
            <a:off x="552450" y="5905500"/>
            <a:ext cx="110871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Sources: Yahoo/Bnext; Asahi/Reuters; Applied Sciences 2024; Edge Impulse.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2450" y="266700"/>
            <a:ext cx="400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30" dirty="0">
                <a:solidFill>
                  <a:srgbClr val="20C8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 → REQUIREMENT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52450" y="476250"/>
            <a:ext cx="10382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8" b="1" dirty="0">
                <a:solidFill>
                  <a:srgbClr val="F4F6F3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THE WHITE SPACE IS WORKFLOW, NOT MORE FEATURES</a:t>
            </a:r>
            <a:endParaRPr lang="en-US" sz="2808" dirty="0"/>
          </a:p>
        </p:txBody>
      </p:sp>
      <p:sp>
        <p:nvSpPr>
          <p:cNvPr id="4" name="Text 2"/>
          <p:cNvSpPr/>
          <p:nvPr/>
        </p:nvSpPr>
        <p:spPr>
          <a:xfrm>
            <a:off x="10953750" y="6496050"/>
            <a:ext cx="685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9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/ 20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52450" y="1238250"/>
            <a:ext cx="4762500" cy="4343400"/>
          </a:xfrm>
          <a:prstGeom prst="roundRect">
            <a:avLst>
              <a:gd name="adj" fmla="val 3509"/>
            </a:avLst>
          </a:prstGeom>
          <a:solidFill>
            <a:srgbClr val="FFFCF8"/>
          </a:solidFill>
          <a:ln w="12700">
            <a:solidFill>
              <a:srgbClr val="FFF1DE">
                <a:alpha val="50000"/>
              </a:srgbClr>
            </a:solidFill>
            <a:prstDash val="solid"/>
          </a:ln>
          <a:effectLst>
            <a:outerShdw blurRad="152400" dist="38100" dir="2700000" algn="bl" rotWithShape="0">
              <a:srgbClr val="111827">
                <a:alpha val="34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781050" y="1447800"/>
            <a:ext cx="430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7" b="1" dirty="0">
                <a:solidFill>
                  <a:srgbClr val="FFB347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WHY PILOTS FAIL</a:t>
            </a:r>
            <a:endParaRPr lang="en-US" sz="1747" dirty="0"/>
          </a:p>
        </p:txBody>
      </p:sp>
      <p:sp>
        <p:nvSpPr>
          <p:cNvPr id="7" name="Shape 5"/>
          <p:cNvSpPr/>
          <p:nvPr/>
        </p:nvSpPr>
        <p:spPr>
          <a:xfrm>
            <a:off x="781050" y="1866900"/>
            <a:ext cx="4305300" cy="19050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781050" y="2038350"/>
            <a:ext cx="4305300" cy="757238"/>
          </a:xfrm>
          <a:prstGeom prst="roundRect">
            <a:avLst>
              <a:gd name="adj" fmla="val 11321"/>
            </a:avLst>
          </a:prstGeom>
          <a:solidFill>
            <a:srgbClr val="2E2923"/>
          </a:solidFill>
          <a:ln w="7620">
            <a:solidFill>
              <a:srgbClr val="FFB347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933450" y="2152650"/>
            <a:ext cx="323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347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90650" y="2124075"/>
            <a:ext cx="3505200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Bed IDs drift after routine room moves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81050" y="2909888"/>
            <a:ext cx="4305300" cy="757238"/>
          </a:xfrm>
          <a:prstGeom prst="roundRect">
            <a:avLst>
              <a:gd name="adj" fmla="val 11321"/>
            </a:avLst>
          </a:prstGeom>
          <a:solidFill>
            <a:srgbClr val="2E2923"/>
          </a:solidFill>
          <a:ln w="7620">
            <a:solidFill>
              <a:srgbClr val="FFB347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933450" y="3024188"/>
            <a:ext cx="323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347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90650" y="2995613"/>
            <a:ext cx="3505200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Electronic components create maintenance burden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81050" y="3781425"/>
            <a:ext cx="4305300" cy="757238"/>
          </a:xfrm>
          <a:prstGeom prst="roundRect">
            <a:avLst>
              <a:gd name="adj" fmla="val 11321"/>
            </a:avLst>
          </a:prstGeom>
          <a:solidFill>
            <a:srgbClr val="2E2923"/>
          </a:solidFill>
          <a:ln w="7620">
            <a:solidFill>
              <a:srgbClr val="FFB347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933450" y="3895725"/>
            <a:ext cx="323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347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90650" y="3867150"/>
            <a:ext cx="3505200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feature count increases cost and training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81050" y="4652963"/>
            <a:ext cx="4305300" cy="757238"/>
          </a:xfrm>
          <a:prstGeom prst="roundRect">
            <a:avLst>
              <a:gd name="adj" fmla="val 11321"/>
            </a:avLst>
          </a:prstGeom>
          <a:solidFill>
            <a:srgbClr val="2E2923"/>
          </a:solidFill>
          <a:ln w="7620">
            <a:solidFill>
              <a:srgbClr val="FFB347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933450" y="4767263"/>
            <a:ext cx="323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347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90650" y="4738688"/>
            <a:ext cx="3505200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False alarms create fatigue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77050" y="1238250"/>
            <a:ext cx="4762500" cy="4343400"/>
          </a:xfrm>
          <a:prstGeom prst="roundRect">
            <a:avLst>
              <a:gd name="adj" fmla="val 3509"/>
            </a:avLst>
          </a:prstGeom>
          <a:solidFill>
            <a:srgbClr val="FCFFF7"/>
          </a:solidFill>
          <a:ln w="12700">
            <a:solidFill>
              <a:srgbClr val="F2FFDB">
                <a:alpha val="50000"/>
              </a:srgbClr>
            </a:solidFill>
            <a:prstDash val="solid"/>
          </a:ln>
          <a:effectLst>
            <a:outerShdw blurRad="152400" dist="38100" dir="2700000" algn="bl" rotWithShape="0">
              <a:srgbClr val="111827">
                <a:alpha val="34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7105650" y="1447800"/>
            <a:ext cx="4305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47" b="1" dirty="0">
                <a:solidFill>
                  <a:srgbClr val="B7FF35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OUR DESIGN RESPONSE</a:t>
            </a:r>
            <a:endParaRPr lang="en-US" sz="1747" dirty="0"/>
          </a:p>
        </p:txBody>
      </p:sp>
      <p:sp>
        <p:nvSpPr>
          <p:cNvPr id="22" name="Shape 20"/>
          <p:cNvSpPr/>
          <p:nvPr/>
        </p:nvSpPr>
        <p:spPr>
          <a:xfrm>
            <a:off x="7105650" y="1866900"/>
            <a:ext cx="4305300" cy="19050"/>
          </a:xfrm>
          <a:prstGeom prst="rect">
            <a:avLst/>
          </a:prstGeom>
          <a:solidFill>
            <a:srgbClr val="B7FF35"/>
          </a:solidFill>
          <a:ln w="12700">
            <a:solidFill>
              <a:srgbClr val="B7FF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7105650" y="2038350"/>
            <a:ext cx="4305300" cy="757238"/>
          </a:xfrm>
          <a:prstGeom prst="roundRect">
            <a:avLst>
              <a:gd name="adj" fmla="val 11321"/>
            </a:avLst>
          </a:prstGeom>
          <a:solidFill>
            <a:srgbClr val="273121"/>
          </a:solidFill>
          <a:ln w="7620">
            <a:solidFill>
              <a:srgbClr val="B7FF35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7258050" y="2152650"/>
            <a:ext cx="323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FF35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01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15250" y="2124075"/>
            <a:ext cx="3505200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Move-resilient device / zone pairing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105650" y="2909888"/>
            <a:ext cx="4305300" cy="757238"/>
          </a:xfrm>
          <a:prstGeom prst="roundRect">
            <a:avLst>
              <a:gd name="adj" fmla="val 11321"/>
            </a:avLst>
          </a:prstGeom>
          <a:solidFill>
            <a:srgbClr val="273121"/>
          </a:solidFill>
          <a:ln w="7620">
            <a:solidFill>
              <a:srgbClr val="B7FF35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7258050" y="3024188"/>
            <a:ext cx="323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FF35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02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715250" y="2995613"/>
            <a:ext cx="3505200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Modular, replaceable sensors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105650" y="3781425"/>
            <a:ext cx="4305300" cy="757238"/>
          </a:xfrm>
          <a:prstGeom prst="roundRect">
            <a:avLst>
              <a:gd name="adj" fmla="val 11321"/>
            </a:avLst>
          </a:prstGeom>
          <a:solidFill>
            <a:srgbClr val="273121"/>
          </a:solidFill>
          <a:ln w="7620">
            <a:solidFill>
              <a:srgbClr val="B7FF35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7258050" y="3895725"/>
            <a:ext cx="323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FF35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03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715250" y="3867150"/>
            <a:ext cx="3505200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acknowledge / escalate / resolve workflow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105650" y="4652963"/>
            <a:ext cx="4305300" cy="757238"/>
          </a:xfrm>
          <a:prstGeom prst="roundRect">
            <a:avLst>
              <a:gd name="adj" fmla="val 11321"/>
            </a:avLst>
          </a:prstGeom>
          <a:solidFill>
            <a:srgbClr val="273121"/>
          </a:solidFill>
          <a:ln w="7620">
            <a:solidFill>
              <a:srgbClr val="B7FF35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1"/>
          <p:cNvSpPr/>
          <p:nvPr/>
        </p:nvSpPr>
        <p:spPr>
          <a:xfrm>
            <a:off x="7258050" y="4767263"/>
            <a:ext cx="323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FF35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04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715250" y="4738688"/>
            <a:ext cx="3505200" cy="58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Temporal confirmation before alert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657850" y="2200275"/>
            <a:ext cx="876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8" b="1" dirty="0">
                <a:solidFill>
                  <a:srgbClr val="20C8B6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→</a:t>
            </a:r>
            <a:endParaRPr lang="en-US" sz="1498" dirty="0"/>
          </a:p>
        </p:txBody>
      </p:sp>
      <p:sp>
        <p:nvSpPr>
          <p:cNvPr id="36" name="Text 34"/>
          <p:cNvSpPr/>
          <p:nvPr/>
        </p:nvSpPr>
        <p:spPr>
          <a:xfrm>
            <a:off x="5657850" y="3009900"/>
            <a:ext cx="876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8" b="1" dirty="0">
                <a:solidFill>
                  <a:srgbClr val="20C8B6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→</a:t>
            </a:r>
            <a:endParaRPr lang="en-US" sz="1498" dirty="0"/>
          </a:p>
        </p:txBody>
      </p:sp>
      <p:sp>
        <p:nvSpPr>
          <p:cNvPr id="37" name="Text 35"/>
          <p:cNvSpPr/>
          <p:nvPr/>
        </p:nvSpPr>
        <p:spPr>
          <a:xfrm>
            <a:off x="5657850" y="3819525"/>
            <a:ext cx="876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8" b="1" dirty="0">
                <a:solidFill>
                  <a:srgbClr val="20C8B6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→</a:t>
            </a:r>
            <a:endParaRPr lang="en-US" sz="1498" dirty="0"/>
          </a:p>
        </p:txBody>
      </p:sp>
      <p:sp>
        <p:nvSpPr>
          <p:cNvPr id="38" name="Text 36"/>
          <p:cNvSpPr/>
          <p:nvPr/>
        </p:nvSpPr>
        <p:spPr>
          <a:xfrm>
            <a:off x="5657850" y="4629150"/>
            <a:ext cx="876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8" b="1" dirty="0">
                <a:solidFill>
                  <a:srgbClr val="20C8B6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→</a:t>
            </a:r>
            <a:endParaRPr lang="en-US" sz="1498" dirty="0"/>
          </a:p>
        </p:txBody>
      </p:sp>
      <p:sp>
        <p:nvSpPr>
          <p:cNvPr id="39" name="Text 37"/>
          <p:cNvSpPr/>
          <p:nvPr/>
        </p:nvSpPr>
        <p:spPr>
          <a:xfrm>
            <a:off x="1447800" y="5905500"/>
            <a:ext cx="92964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B7FF35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CARE ADOPTION — NOT BENCHMARK ACCURACY — IS THE PRODUCT TARGET</a:t>
            </a:r>
            <a:endParaRPr lang="en-US" sz="15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" y="1143000"/>
            <a:ext cx="9525" cy="4762500"/>
          </a:xfrm>
          <a:prstGeom prst="rect">
            <a:avLst/>
          </a:prstGeom>
          <a:solidFill>
            <a:srgbClr val="151619">
              <a:alpha val="40000"/>
            </a:srgbClr>
          </a:solidFill>
          <a:ln w="12700">
            <a:solidFill>
              <a:srgbClr val="0809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1143000" y="1143000"/>
            <a:ext cx="9525" cy="4762500"/>
          </a:xfrm>
          <a:prstGeom prst="rect">
            <a:avLst/>
          </a:prstGeom>
          <a:solidFill>
            <a:srgbClr val="151619">
              <a:alpha val="40000"/>
            </a:srgbClr>
          </a:solidFill>
          <a:ln w="12700">
            <a:solidFill>
              <a:srgbClr val="0809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1714500" y="1143000"/>
            <a:ext cx="9525" cy="4762500"/>
          </a:xfrm>
          <a:prstGeom prst="rect">
            <a:avLst/>
          </a:prstGeom>
          <a:solidFill>
            <a:srgbClr val="151619">
              <a:alpha val="40000"/>
            </a:srgbClr>
          </a:solidFill>
          <a:ln w="12700">
            <a:solidFill>
              <a:srgbClr val="0809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2286000" y="1143000"/>
            <a:ext cx="9525" cy="4762500"/>
          </a:xfrm>
          <a:prstGeom prst="rect">
            <a:avLst/>
          </a:prstGeom>
          <a:solidFill>
            <a:srgbClr val="151619">
              <a:alpha val="40000"/>
            </a:srgbClr>
          </a:solidFill>
          <a:ln w="12700">
            <a:solidFill>
              <a:srgbClr val="0809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2857500" y="1143000"/>
            <a:ext cx="9525" cy="4762500"/>
          </a:xfrm>
          <a:prstGeom prst="rect">
            <a:avLst/>
          </a:prstGeom>
          <a:solidFill>
            <a:srgbClr val="151619">
              <a:alpha val="40000"/>
            </a:srgbClr>
          </a:solidFill>
          <a:ln w="12700">
            <a:solidFill>
              <a:srgbClr val="0809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3429000" y="1143000"/>
            <a:ext cx="9525" cy="4762500"/>
          </a:xfrm>
          <a:prstGeom prst="rect">
            <a:avLst/>
          </a:prstGeom>
          <a:solidFill>
            <a:srgbClr val="151619">
              <a:alpha val="40000"/>
            </a:srgbClr>
          </a:solidFill>
          <a:ln w="12700">
            <a:solidFill>
              <a:srgbClr val="0809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4000500" y="1143000"/>
            <a:ext cx="9525" cy="4762500"/>
          </a:xfrm>
          <a:prstGeom prst="rect">
            <a:avLst/>
          </a:prstGeom>
          <a:solidFill>
            <a:srgbClr val="151619">
              <a:alpha val="40000"/>
            </a:srgbClr>
          </a:solidFill>
          <a:ln w="12700">
            <a:solidFill>
              <a:srgbClr val="0809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4572000" y="1143000"/>
            <a:ext cx="9525" cy="4762500"/>
          </a:xfrm>
          <a:prstGeom prst="rect">
            <a:avLst/>
          </a:prstGeom>
          <a:solidFill>
            <a:srgbClr val="151619">
              <a:alpha val="40000"/>
            </a:srgbClr>
          </a:solidFill>
          <a:ln w="12700">
            <a:solidFill>
              <a:srgbClr val="0809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5143500" y="1143000"/>
            <a:ext cx="9525" cy="4762500"/>
          </a:xfrm>
          <a:prstGeom prst="rect">
            <a:avLst/>
          </a:prstGeom>
          <a:solidFill>
            <a:srgbClr val="151619">
              <a:alpha val="40000"/>
            </a:srgbClr>
          </a:solidFill>
          <a:ln w="12700">
            <a:solidFill>
              <a:srgbClr val="0809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5715000" y="1143000"/>
            <a:ext cx="9525" cy="4762500"/>
          </a:xfrm>
          <a:prstGeom prst="rect">
            <a:avLst/>
          </a:prstGeom>
          <a:solidFill>
            <a:srgbClr val="151619">
              <a:alpha val="40000"/>
            </a:srgbClr>
          </a:solidFill>
          <a:ln w="12700">
            <a:solidFill>
              <a:srgbClr val="0809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6286500" y="1143000"/>
            <a:ext cx="9525" cy="4762500"/>
          </a:xfrm>
          <a:prstGeom prst="rect">
            <a:avLst/>
          </a:prstGeom>
          <a:solidFill>
            <a:srgbClr val="151619">
              <a:alpha val="40000"/>
            </a:srgbClr>
          </a:solidFill>
          <a:ln w="12700">
            <a:solidFill>
              <a:srgbClr val="0809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6858000" y="1143000"/>
            <a:ext cx="9525" cy="4762500"/>
          </a:xfrm>
          <a:prstGeom prst="rect">
            <a:avLst/>
          </a:prstGeom>
          <a:solidFill>
            <a:srgbClr val="151619">
              <a:alpha val="40000"/>
            </a:srgbClr>
          </a:solidFill>
          <a:ln w="12700">
            <a:solidFill>
              <a:srgbClr val="0809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7429500" y="1143000"/>
            <a:ext cx="9525" cy="4762500"/>
          </a:xfrm>
          <a:prstGeom prst="rect">
            <a:avLst/>
          </a:prstGeom>
          <a:solidFill>
            <a:srgbClr val="151619">
              <a:alpha val="40000"/>
            </a:srgbClr>
          </a:solidFill>
          <a:ln w="12700">
            <a:solidFill>
              <a:srgbClr val="0809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8001000" y="1143000"/>
            <a:ext cx="9525" cy="4762500"/>
          </a:xfrm>
          <a:prstGeom prst="rect">
            <a:avLst/>
          </a:prstGeom>
          <a:solidFill>
            <a:srgbClr val="151619">
              <a:alpha val="40000"/>
            </a:srgbClr>
          </a:solidFill>
          <a:ln w="12700">
            <a:solidFill>
              <a:srgbClr val="0809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8572500" y="1143000"/>
            <a:ext cx="9525" cy="4762500"/>
          </a:xfrm>
          <a:prstGeom prst="rect">
            <a:avLst/>
          </a:prstGeom>
          <a:solidFill>
            <a:srgbClr val="151619">
              <a:alpha val="40000"/>
            </a:srgbClr>
          </a:solidFill>
          <a:ln w="12700">
            <a:solidFill>
              <a:srgbClr val="0809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9144000" y="1143000"/>
            <a:ext cx="9525" cy="4762500"/>
          </a:xfrm>
          <a:prstGeom prst="rect">
            <a:avLst/>
          </a:prstGeom>
          <a:solidFill>
            <a:srgbClr val="151619">
              <a:alpha val="40000"/>
            </a:srgbClr>
          </a:solidFill>
          <a:ln w="12700">
            <a:solidFill>
              <a:srgbClr val="0809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9715500" y="1143000"/>
            <a:ext cx="9525" cy="4762500"/>
          </a:xfrm>
          <a:prstGeom prst="rect">
            <a:avLst/>
          </a:prstGeom>
          <a:solidFill>
            <a:srgbClr val="151619">
              <a:alpha val="40000"/>
            </a:srgbClr>
          </a:solidFill>
          <a:ln w="12700">
            <a:solidFill>
              <a:srgbClr val="0809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10287000" y="1143000"/>
            <a:ext cx="9525" cy="4762500"/>
          </a:xfrm>
          <a:prstGeom prst="rect">
            <a:avLst/>
          </a:prstGeom>
          <a:solidFill>
            <a:srgbClr val="151619">
              <a:alpha val="40000"/>
            </a:srgbClr>
          </a:solidFill>
          <a:ln w="12700">
            <a:solidFill>
              <a:srgbClr val="0809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10858500" y="1143000"/>
            <a:ext cx="9525" cy="4762500"/>
          </a:xfrm>
          <a:prstGeom prst="rect">
            <a:avLst/>
          </a:prstGeom>
          <a:solidFill>
            <a:srgbClr val="151619">
              <a:alpha val="40000"/>
            </a:srgbClr>
          </a:solidFill>
          <a:ln w="12700">
            <a:solidFill>
              <a:srgbClr val="0809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11430000" y="1143000"/>
            <a:ext cx="9525" cy="4762500"/>
          </a:xfrm>
          <a:prstGeom prst="rect">
            <a:avLst/>
          </a:prstGeom>
          <a:solidFill>
            <a:srgbClr val="151619">
              <a:alpha val="40000"/>
            </a:srgbClr>
          </a:solidFill>
          <a:ln w="12700">
            <a:solidFill>
              <a:srgbClr val="0809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381000" y="1333500"/>
            <a:ext cx="11430000" cy="9525"/>
          </a:xfrm>
          <a:prstGeom prst="rect">
            <a:avLst/>
          </a:prstGeom>
          <a:solidFill>
            <a:srgbClr val="151619">
              <a:alpha val="40000"/>
            </a:srgbClr>
          </a:solidFill>
          <a:ln w="12700">
            <a:solidFill>
              <a:srgbClr val="0809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381000" y="1905000"/>
            <a:ext cx="11430000" cy="9525"/>
          </a:xfrm>
          <a:prstGeom prst="rect">
            <a:avLst/>
          </a:prstGeom>
          <a:solidFill>
            <a:srgbClr val="151619">
              <a:alpha val="40000"/>
            </a:srgbClr>
          </a:solidFill>
          <a:ln w="12700">
            <a:solidFill>
              <a:srgbClr val="0809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381000" y="2476500"/>
            <a:ext cx="11430000" cy="9525"/>
          </a:xfrm>
          <a:prstGeom prst="rect">
            <a:avLst/>
          </a:prstGeom>
          <a:solidFill>
            <a:srgbClr val="151619">
              <a:alpha val="40000"/>
            </a:srgbClr>
          </a:solidFill>
          <a:ln w="12700">
            <a:solidFill>
              <a:srgbClr val="0809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381000" y="3048000"/>
            <a:ext cx="11430000" cy="9525"/>
          </a:xfrm>
          <a:prstGeom prst="rect">
            <a:avLst/>
          </a:prstGeom>
          <a:solidFill>
            <a:srgbClr val="151619">
              <a:alpha val="40000"/>
            </a:srgbClr>
          </a:solidFill>
          <a:ln w="12700">
            <a:solidFill>
              <a:srgbClr val="0809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381000" y="3619500"/>
            <a:ext cx="11430000" cy="9525"/>
          </a:xfrm>
          <a:prstGeom prst="rect">
            <a:avLst/>
          </a:prstGeom>
          <a:solidFill>
            <a:srgbClr val="151619">
              <a:alpha val="40000"/>
            </a:srgbClr>
          </a:solidFill>
          <a:ln w="12700">
            <a:solidFill>
              <a:srgbClr val="0809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381000" y="4191000"/>
            <a:ext cx="11430000" cy="9525"/>
          </a:xfrm>
          <a:prstGeom prst="rect">
            <a:avLst/>
          </a:prstGeom>
          <a:solidFill>
            <a:srgbClr val="151619">
              <a:alpha val="40000"/>
            </a:srgbClr>
          </a:solidFill>
          <a:ln w="12700">
            <a:solidFill>
              <a:srgbClr val="0809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Shape 26"/>
          <p:cNvSpPr/>
          <p:nvPr/>
        </p:nvSpPr>
        <p:spPr>
          <a:xfrm>
            <a:off x="381000" y="4762500"/>
            <a:ext cx="11430000" cy="9525"/>
          </a:xfrm>
          <a:prstGeom prst="rect">
            <a:avLst/>
          </a:prstGeom>
          <a:solidFill>
            <a:srgbClr val="151619">
              <a:alpha val="40000"/>
            </a:srgbClr>
          </a:solidFill>
          <a:ln w="12700">
            <a:solidFill>
              <a:srgbClr val="0809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Shape 27"/>
          <p:cNvSpPr/>
          <p:nvPr/>
        </p:nvSpPr>
        <p:spPr>
          <a:xfrm>
            <a:off x="381000" y="5334000"/>
            <a:ext cx="11430000" cy="9525"/>
          </a:xfrm>
          <a:prstGeom prst="rect">
            <a:avLst/>
          </a:prstGeom>
          <a:solidFill>
            <a:srgbClr val="151619">
              <a:alpha val="40000"/>
            </a:srgbClr>
          </a:solidFill>
          <a:ln w="12700">
            <a:solidFill>
              <a:srgbClr val="0809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552450" y="26670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30" dirty="0">
                <a:solidFill>
                  <a:srgbClr val="20C8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REUSABLE EVENT ENGINE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52450" y="476250"/>
            <a:ext cx="9334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8" b="1" dirty="0">
                <a:solidFill>
                  <a:srgbClr val="F4F6F3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ONE LOCAL LOOP, FOUR CARE MOMENTS</a:t>
            </a:r>
            <a:endParaRPr lang="en-US" sz="2808" dirty="0"/>
          </a:p>
        </p:txBody>
      </p:sp>
      <p:sp>
        <p:nvSpPr>
          <p:cNvPr id="32" name="Shape 30"/>
          <p:cNvSpPr/>
          <p:nvPr/>
        </p:nvSpPr>
        <p:spPr>
          <a:xfrm>
            <a:off x="1104900" y="2000250"/>
            <a:ext cx="9677400" cy="47625"/>
          </a:xfrm>
          <a:prstGeom prst="rect">
            <a:avLst/>
          </a:prstGeom>
          <a:solidFill>
            <a:srgbClr val="B7FF35"/>
          </a:solidFill>
          <a:ln w="12700">
            <a:solidFill>
              <a:srgbClr val="B7FF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Shape 31"/>
          <p:cNvSpPr/>
          <p:nvPr/>
        </p:nvSpPr>
        <p:spPr>
          <a:xfrm>
            <a:off x="800100" y="1714500"/>
            <a:ext cx="609600" cy="609600"/>
          </a:xfrm>
          <a:prstGeom prst="ellipse">
            <a:avLst/>
          </a:prstGeom>
          <a:solidFill>
            <a:srgbClr val="171A1F"/>
          </a:solidFill>
          <a:ln w="25400">
            <a:solidFill>
              <a:srgbClr val="B7FF3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Text 32"/>
          <p:cNvSpPr/>
          <p:nvPr/>
        </p:nvSpPr>
        <p:spPr>
          <a:xfrm>
            <a:off x="800100" y="1876425"/>
            <a:ext cx="609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7FF35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01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42900" y="2400300"/>
            <a:ext cx="152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F6F3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SENSE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219450" y="1714500"/>
            <a:ext cx="609600" cy="609600"/>
          </a:xfrm>
          <a:prstGeom prst="ellipse">
            <a:avLst/>
          </a:prstGeom>
          <a:solidFill>
            <a:srgbClr val="171A1F"/>
          </a:solidFill>
          <a:ln w="25400">
            <a:solidFill>
              <a:srgbClr val="B7FF3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Text 35"/>
          <p:cNvSpPr/>
          <p:nvPr/>
        </p:nvSpPr>
        <p:spPr>
          <a:xfrm>
            <a:off x="3219450" y="1876425"/>
            <a:ext cx="609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7FF35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02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2762250" y="2400300"/>
            <a:ext cx="152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F6F3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INFER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5638800" y="1714500"/>
            <a:ext cx="609600" cy="609600"/>
          </a:xfrm>
          <a:prstGeom prst="ellipse">
            <a:avLst/>
          </a:prstGeom>
          <a:solidFill>
            <a:srgbClr val="B7FF35"/>
          </a:solidFill>
          <a:ln w="25400">
            <a:solidFill>
              <a:srgbClr val="B7FF3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Text 38"/>
          <p:cNvSpPr/>
          <p:nvPr/>
        </p:nvSpPr>
        <p:spPr>
          <a:xfrm>
            <a:off x="5638800" y="1876425"/>
            <a:ext cx="609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03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181600" y="2400300"/>
            <a:ext cx="152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F6F3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VERIFY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8058150" y="1714500"/>
            <a:ext cx="609600" cy="609600"/>
          </a:xfrm>
          <a:prstGeom prst="ellipse">
            <a:avLst/>
          </a:prstGeom>
          <a:solidFill>
            <a:srgbClr val="171A1F"/>
          </a:solidFill>
          <a:ln w="25400">
            <a:solidFill>
              <a:srgbClr val="B7FF3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Text 41"/>
          <p:cNvSpPr/>
          <p:nvPr/>
        </p:nvSpPr>
        <p:spPr>
          <a:xfrm>
            <a:off x="8058150" y="1876425"/>
            <a:ext cx="609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7FF35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04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600950" y="2400300"/>
            <a:ext cx="152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F6F3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ACT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10477500" y="1714500"/>
            <a:ext cx="609600" cy="609600"/>
          </a:xfrm>
          <a:prstGeom prst="ellipse">
            <a:avLst/>
          </a:prstGeom>
          <a:solidFill>
            <a:srgbClr val="171A1F"/>
          </a:solidFill>
          <a:ln w="25400">
            <a:solidFill>
              <a:srgbClr val="B7FF3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Text 44"/>
          <p:cNvSpPr/>
          <p:nvPr/>
        </p:nvSpPr>
        <p:spPr>
          <a:xfrm>
            <a:off x="10477500" y="1876425"/>
            <a:ext cx="609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7FF35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05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10020300" y="2400300"/>
            <a:ext cx="152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F6F3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AUDIT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552450" y="2895600"/>
            <a:ext cx="11087100" cy="2800350"/>
          </a:xfrm>
          <a:prstGeom prst="roundRect">
            <a:avLst>
              <a:gd name="adj" fmla="val 5442"/>
            </a:avLst>
          </a:prstGeom>
          <a:solidFill>
            <a:srgbClr val="F8F8F8"/>
          </a:solidFill>
          <a:ln w="12700">
            <a:solidFill>
              <a:srgbClr val="DBDCDD">
                <a:alpha val="50000"/>
              </a:srgbClr>
            </a:solidFill>
            <a:prstDash val="solid"/>
          </a:ln>
          <a:effectLst>
            <a:outerShdw blurRad="152400" dist="38100" dir="2700000" algn="bl" rotWithShape="0">
              <a:srgbClr val="111827">
                <a:alpha val="34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9" name="Text 47"/>
          <p:cNvSpPr/>
          <p:nvPr/>
        </p:nvSpPr>
        <p:spPr>
          <a:xfrm>
            <a:off x="781050" y="3238500"/>
            <a:ext cx="135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FF35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FALL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2247900" y="3343275"/>
            <a:ext cx="8915400" cy="28575"/>
          </a:xfrm>
          <a:prstGeom prst="rect">
            <a:avLst/>
          </a:prstGeom>
          <a:solidFill>
            <a:srgbClr val="B7FF35">
              <a:alpha val="95000"/>
            </a:srgbClr>
          </a:solidFill>
          <a:ln w="12700">
            <a:solidFill>
              <a:srgbClr val="B7FF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1" name="Shape 49"/>
          <p:cNvSpPr/>
          <p:nvPr/>
        </p:nvSpPr>
        <p:spPr>
          <a:xfrm>
            <a:off x="2286000" y="3124200"/>
            <a:ext cx="1581150" cy="457200"/>
          </a:xfrm>
          <a:prstGeom prst="roundRect">
            <a:avLst>
              <a:gd name="adj" fmla="val 18750"/>
            </a:avLst>
          </a:prstGeom>
          <a:solidFill>
            <a:srgbClr val="273121"/>
          </a:solidFill>
          <a:ln w="7620">
            <a:solidFill>
              <a:srgbClr val="B7FF3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2" name="Text 50"/>
          <p:cNvSpPr/>
          <p:nvPr/>
        </p:nvSpPr>
        <p:spPr>
          <a:xfrm>
            <a:off x="2381250" y="3238500"/>
            <a:ext cx="1390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Abrupt descent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229100" y="3124200"/>
            <a:ext cx="1581150" cy="457200"/>
          </a:xfrm>
          <a:prstGeom prst="roundRect">
            <a:avLst>
              <a:gd name="adj" fmla="val 18750"/>
            </a:avLst>
          </a:prstGeom>
          <a:solidFill>
            <a:srgbClr val="273121"/>
          </a:solidFill>
          <a:ln w="7620">
            <a:solidFill>
              <a:srgbClr val="B7FF3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4" name="Text 52"/>
          <p:cNvSpPr/>
          <p:nvPr/>
        </p:nvSpPr>
        <p:spPr>
          <a:xfrm>
            <a:off x="4324350" y="3238500"/>
            <a:ext cx="1390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Posture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6172200" y="3124200"/>
            <a:ext cx="1581150" cy="457200"/>
          </a:xfrm>
          <a:prstGeom prst="roundRect">
            <a:avLst>
              <a:gd name="adj" fmla="val 18750"/>
            </a:avLst>
          </a:prstGeom>
          <a:solidFill>
            <a:srgbClr val="273121"/>
          </a:solidFill>
          <a:ln w="7620">
            <a:solidFill>
              <a:srgbClr val="B7FF3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6" name="Text 54"/>
          <p:cNvSpPr/>
          <p:nvPr/>
        </p:nvSpPr>
        <p:spPr>
          <a:xfrm>
            <a:off x="6267450" y="3238500"/>
            <a:ext cx="1390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check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8115300" y="3124200"/>
            <a:ext cx="1581150" cy="457200"/>
          </a:xfrm>
          <a:prstGeom prst="roundRect">
            <a:avLst>
              <a:gd name="adj" fmla="val 18750"/>
            </a:avLst>
          </a:prstGeom>
          <a:solidFill>
            <a:srgbClr val="273121"/>
          </a:solidFill>
          <a:ln w="7620">
            <a:solidFill>
              <a:srgbClr val="B7FF3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8" name="Text 56"/>
          <p:cNvSpPr/>
          <p:nvPr/>
        </p:nvSpPr>
        <p:spPr>
          <a:xfrm>
            <a:off x="8210550" y="3238500"/>
            <a:ext cx="1390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Caregiver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10058400" y="3124200"/>
            <a:ext cx="1581150" cy="457200"/>
          </a:xfrm>
          <a:prstGeom prst="roundRect">
            <a:avLst>
              <a:gd name="adj" fmla="val 18750"/>
            </a:avLst>
          </a:prstGeom>
          <a:solidFill>
            <a:srgbClr val="273121"/>
          </a:solidFill>
          <a:ln w="7620">
            <a:solidFill>
              <a:srgbClr val="B7FF35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0" name="Text 58"/>
          <p:cNvSpPr/>
          <p:nvPr/>
        </p:nvSpPr>
        <p:spPr>
          <a:xfrm>
            <a:off x="10153650" y="3238500"/>
            <a:ext cx="1390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 log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781050" y="3848100"/>
            <a:ext cx="135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C8B6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WANDERING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2247900" y="3952875"/>
            <a:ext cx="8915400" cy="28575"/>
          </a:xfrm>
          <a:prstGeom prst="rect">
            <a:avLst/>
          </a:prstGeom>
          <a:solidFill>
            <a:srgbClr val="20C8B6">
              <a:alpha val="95000"/>
            </a:srgbClr>
          </a:solidFill>
          <a:ln w="12700">
            <a:solidFill>
              <a:srgbClr val="20C8B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3" name="Shape 61"/>
          <p:cNvSpPr/>
          <p:nvPr/>
        </p:nvSpPr>
        <p:spPr>
          <a:xfrm>
            <a:off x="2286000" y="3733800"/>
            <a:ext cx="1581150" cy="457200"/>
          </a:xfrm>
          <a:prstGeom prst="roundRect">
            <a:avLst>
              <a:gd name="adj" fmla="val 18750"/>
            </a:avLst>
          </a:prstGeom>
          <a:solidFill>
            <a:srgbClr val="182B2E"/>
          </a:solidFill>
          <a:ln w="7620">
            <a:solidFill>
              <a:srgbClr val="20C8B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4" name="Text 62"/>
          <p:cNvSpPr/>
          <p:nvPr/>
        </p:nvSpPr>
        <p:spPr>
          <a:xfrm>
            <a:off x="2381250" y="3848100"/>
            <a:ext cx="1390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Zone transition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4229100" y="3733800"/>
            <a:ext cx="1581150" cy="457200"/>
          </a:xfrm>
          <a:prstGeom prst="roundRect">
            <a:avLst>
              <a:gd name="adj" fmla="val 18750"/>
            </a:avLst>
          </a:prstGeom>
          <a:solidFill>
            <a:srgbClr val="182B2E"/>
          </a:solidFill>
          <a:ln w="7620">
            <a:solidFill>
              <a:srgbClr val="20C8B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6" name="Text 64"/>
          <p:cNvSpPr/>
          <p:nvPr/>
        </p:nvSpPr>
        <p:spPr>
          <a:xfrm>
            <a:off x="4324350" y="3848100"/>
            <a:ext cx="1390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Presence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6172200" y="3733800"/>
            <a:ext cx="1581150" cy="457200"/>
          </a:xfrm>
          <a:prstGeom prst="roundRect">
            <a:avLst>
              <a:gd name="adj" fmla="val 18750"/>
            </a:avLst>
          </a:prstGeom>
          <a:solidFill>
            <a:srgbClr val="182B2E"/>
          </a:solidFill>
          <a:ln w="7620">
            <a:solidFill>
              <a:srgbClr val="20C8B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8" name="Text 66"/>
          <p:cNvSpPr/>
          <p:nvPr/>
        </p:nvSpPr>
        <p:spPr>
          <a:xfrm>
            <a:off x="6267450" y="3848100"/>
            <a:ext cx="1390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8115300" y="3733800"/>
            <a:ext cx="1581150" cy="457200"/>
          </a:xfrm>
          <a:prstGeom prst="roundRect">
            <a:avLst>
              <a:gd name="adj" fmla="val 18750"/>
            </a:avLst>
          </a:prstGeom>
          <a:solidFill>
            <a:srgbClr val="182B2E"/>
          </a:solidFill>
          <a:ln w="7620">
            <a:solidFill>
              <a:srgbClr val="20C8B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0" name="Text 68"/>
          <p:cNvSpPr/>
          <p:nvPr/>
        </p:nvSpPr>
        <p:spPr>
          <a:xfrm>
            <a:off x="8210550" y="3848100"/>
            <a:ext cx="1390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Caregiver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>
            <a:off x="10058400" y="3733800"/>
            <a:ext cx="1581150" cy="457200"/>
          </a:xfrm>
          <a:prstGeom prst="roundRect">
            <a:avLst>
              <a:gd name="adj" fmla="val 18750"/>
            </a:avLst>
          </a:prstGeom>
          <a:solidFill>
            <a:srgbClr val="182B2E"/>
          </a:solidFill>
          <a:ln w="7620">
            <a:solidFill>
              <a:srgbClr val="20C8B6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2" name="Text 70"/>
          <p:cNvSpPr/>
          <p:nvPr/>
        </p:nvSpPr>
        <p:spPr>
          <a:xfrm>
            <a:off x="10153650" y="3848100"/>
            <a:ext cx="1390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 log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781050" y="4457700"/>
            <a:ext cx="135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347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MEDICATION</a:t>
            </a:r>
            <a:endParaRPr lang="en-US" sz="1400" dirty="0"/>
          </a:p>
        </p:txBody>
      </p:sp>
      <p:sp>
        <p:nvSpPr>
          <p:cNvPr id="74" name="Shape 72"/>
          <p:cNvSpPr/>
          <p:nvPr/>
        </p:nvSpPr>
        <p:spPr>
          <a:xfrm>
            <a:off x="2247900" y="4562475"/>
            <a:ext cx="8915400" cy="28575"/>
          </a:xfrm>
          <a:prstGeom prst="rect">
            <a:avLst/>
          </a:prstGeom>
          <a:solidFill>
            <a:srgbClr val="FFB347">
              <a:alpha val="95000"/>
            </a:srgbClr>
          </a:solidFill>
          <a:ln w="12700">
            <a:solidFill>
              <a:srgbClr val="FFB3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5" name="Shape 73"/>
          <p:cNvSpPr/>
          <p:nvPr/>
        </p:nvSpPr>
        <p:spPr>
          <a:xfrm>
            <a:off x="2286000" y="4343400"/>
            <a:ext cx="1581150" cy="457200"/>
          </a:xfrm>
          <a:prstGeom prst="roundRect">
            <a:avLst>
              <a:gd name="adj" fmla="val 18750"/>
            </a:avLst>
          </a:prstGeom>
          <a:solidFill>
            <a:srgbClr val="2E2923"/>
          </a:solidFill>
          <a:ln w="7620">
            <a:solidFill>
              <a:srgbClr val="FFB34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6" name="Text 74"/>
          <p:cNvSpPr/>
          <p:nvPr/>
        </p:nvSpPr>
        <p:spPr>
          <a:xfrm>
            <a:off x="2381250" y="4457700"/>
            <a:ext cx="1390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Smart-box event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4229100" y="4343400"/>
            <a:ext cx="1581150" cy="457200"/>
          </a:xfrm>
          <a:prstGeom prst="roundRect">
            <a:avLst>
              <a:gd name="adj" fmla="val 18750"/>
            </a:avLst>
          </a:prstGeom>
          <a:solidFill>
            <a:srgbClr val="2E2923"/>
          </a:solidFill>
          <a:ln w="7620">
            <a:solidFill>
              <a:srgbClr val="FFB34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8" name="Text 76"/>
          <p:cNvSpPr/>
          <p:nvPr/>
        </p:nvSpPr>
        <p:spPr>
          <a:xfrm>
            <a:off x="4324350" y="4457700"/>
            <a:ext cx="1390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Delay rule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6172200" y="4343400"/>
            <a:ext cx="1581150" cy="457200"/>
          </a:xfrm>
          <a:prstGeom prst="roundRect">
            <a:avLst>
              <a:gd name="adj" fmla="val 18750"/>
            </a:avLst>
          </a:prstGeom>
          <a:solidFill>
            <a:srgbClr val="2E2923"/>
          </a:solidFill>
          <a:ln w="7620">
            <a:solidFill>
              <a:srgbClr val="FFB34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0" name="Text 78"/>
          <p:cNvSpPr/>
          <p:nvPr/>
        </p:nvSpPr>
        <p:spPr>
          <a:xfrm>
            <a:off x="6267450" y="4457700"/>
            <a:ext cx="1390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Reminder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8115300" y="4343400"/>
            <a:ext cx="1581150" cy="457200"/>
          </a:xfrm>
          <a:prstGeom prst="roundRect">
            <a:avLst>
              <a:gd name="adj" fmla="val 18750"/>
            </a:avLst>
          </a:prstGeom>
          <a:solidFill>
            <a:srgbClr val="2E2923"/>
          </a:solidFill>
          <a:ln w="7620">
            <a:solidFill>
              <a:srgbClr val="FFB34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2" name="Text 80"/>
          <p:cNvSpPr/>
          <p:nvPr/>
        </p:nvSpPr>
        <p:spPr>
          <a:xfrm>
            <a:off x="8210550" y="4457700"/>
            <a:ext cx="1390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Escalate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10058400" y="4343400"/>
            <a:ext cx="1581150" cy="457200"/>
          </a:xfrm>
          <a:prstGeom prst="roundRect">
            <a:avLst>
              <a:gd name="adj" fmla="val 18750"/>
            </a:avLst>
          </a:prstGeom>
          <a:solidFill>
            <a:srgbClr val="2E2923"/>
          </a:solidFill>
          <a:ln w="7620">
            <a:solidFill>
              <a:srgbClr val="FFB34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4" name="Text 82"/>
          <p:cNvSpPr/>
          <p:nvPr/>
        </p:nvSpPr>
        <p:spPr>
          <a:xfrm>
            <a:off x="10153650" y="4457700"/>
            <a:ext cx="1390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 log</a:t>
            </a:r>
            <a:endParaRPr lang="en-US" sz="1200" dirty="0"/>
          </a:p>
        </p:txBody>
      </p:sp>
      <p:sp>
        <p:nvSpPr>
          <p:cNvPr id="85" name="Text 83"/>
          <p:cNvSpPr/>
          <p:nvPr/>
        </p:nvSpPr>
        <p:spPr>
          <a:xfrm>
            <a:off x="781050" y="5067300"/>
            <a:ext cx="135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6F3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DISTRESS</a:t>
            </a:r>
            <a:endParaRPr lang="en-US" sz="1400" dirty="0"/>
          </a:p>
        </p:txBody>
      </p:sp>
      <p:sp>
        <p:nvSpPr>
          <p:cNvPr id="86" name="Shape 84"/>
          <p:cNvSpPr/>
          <p:nvPr/>
        </p:nvSpPr>
        <p:spPr>
          <a:xfrm>
            <a:off x="2247900" y="5172075"/>
            <a:ext cx="8915400" cy="28575"/>
          </a:xfrm>
          <a:prstGeom prst="rect">
            <a:avLst/>
          </a:prstGeom>
          <a:solidFill>
            <a:srgbClr val="F4F6F3">
              <a:alpha val="65000"/>
            </a:srgbClr>
          </a:solidFill>
          <a:ln w="12700">
            <a:solidFill>
              <a:srgbClr val="F4F6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7" name="Shape 85"/>
          <p:cNvSpPr/>
          <p:nvPr/>
        </p:nvSpPr>
        <p:spPr>
          <a:xfrm>
            <a:off x="2286000" y="4953000"/>
            <a:ext cx="1581150" cy="457200"/>
          </a:xfrm>
          <a:prstGeom prst="roundRect">
            <a:avLst>
              <a:gd name="adj" fmla="val 18750"/>
            </a:avLst>
          </a:prstGeom>
          <a:solidFill>
            <a:srgbClr val="2D3034"/>
          </a:solidFill>
          <a:ln w="7620">
            <a:solidFill>
              <a:srgbClr val="F4F6F3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8" name="Text 86"/>
          <p:cNvSpPr/>
          <p:nvPr/>
        </p:nvSpPr>
        <p:spPr>
          <a:xfrm>
            <a:off x="2381250" y="5067300"/>
            <a:ext cx="1390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Wake word / cue</a:t>
            </a:r>
            <a:endParaRPr lang="en-US" sz="1200" dirty="0"/>
          </a:p>
        </p:txBody>
      </p:sp>
      <p:sp>
        <p:nvSpPr>
          <p:cNvPr id="89" name="Shape 87"/>
          <p:cNvSpPr/>
          <p:nvPr/>
        </p:nvSpPr>
        <p:spPr>
          <a:xfrm>
            <a:off x="4229100" y="4953000"/>
            <a:ext cx="1581150" cy="457200"/>
          </a:xfrm>
          <a:prstGeom prst="roundRect">
            <a:avLst>
              <a:gd name="adj" fmla="val 18750"/>
            </a:avLst>
          </a:prstGeom>
          <a:solidFill>
            <a:srgbClr val="2D3034"/>
          </a:solidFill>
          <a:ln w="7620">
            <a:solidFill>
              <a:srgbClr val="F4F6F3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0" name="Text 88"/>
          <p:cNvSpPr/>
          <p:nvPr/>
        </p:nvSpPr>
        <p:spPr>
          <a:xfrm>
            <a:off x="4324350" y="5067300"/>
            <a:ext cx="1390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Cue pattern</a:t>
            </a:r>
            <a:endParaRPr lang="en-US" sz="1200" dirty="0"/>
          </a:p>
        </p:txBody>
      </p:sp>
      <p:sp>
        <p:nvSpPr>
          <p:cNvPr id="91" name="Shape 89"/>
          <p:cNvSpPr/>
          <p:nvPr/>
        </p:nvSpPr>
        <p:spPr>
          <a:xfrm>
            <a:off x="6172200" y="4953000"/>
            <a:ext cx="1581150" cy="457200"/>
          </a:xfrm>
          <a:prstGeom prst="roundRect">
            <a:avLst>
              <a:gd name="adj" fmla="val 18750"/>
            </a:avLst>
          </a:prstGeom>
          <a:solidFill>
            <a:srgbClr val="2D3034"/>
          </a:solidFill>
          <a:ln w="7620">
            <a:solidFill>
              <a:srgbClr val="F4F6F3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2" name="Text 90"/>
          <p:cNvSpPr/>
          <p:nvPr/>
        </p:nvSpPr>
        <p:spPr>
          <a:xfrm>
            <a:off x="6267450" y="5067300"/>
            <a:ext cx="1390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response</a:t>
            </a:r>
            <a:endParaRPr lang="en-US" sz="1200" dirty="0"/>
          </a:p>
        </p:txBody>
      </p:sp>
      <p:sp>
        <p:nvSpPr>
          <p:cNvPr id="93" name="Shape 91"/>
          <p:cNvSpPr/>
          <p:nvPr/>
        </p:nvSpPr>
        <p:spPr>
          <a:xfrm>
            <a:off x="8115300" y="4953000"/>
            <a:ext cx="1581150" cy="457200"/>
          </a:xfrm>
          <a:prstGeom prst="roundRect">
            <a:avLst>
              <a:gd name="adj" fmla="val 18750"/>
            </a:avLst>
          </a:prstGeom>
          <a:solidFill>
            <a:srgbClr val="2D3034"/>
          </a:solidFill>
          <a:ln w="7620">
            <a:solidFill>
              <a:srgbClr val="F4F6F3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4" name="Text 92"/>
          <p:cNvSpPr/>
          <p:nvPr/>
        </p:nvSpPr>
        <p:spPr>
          <a:xfrm>
            <a:off x="8210550" y="5067300"/>
            <a:ext cx="1390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 review</a:t>
            </a:r>
            <a:endParaRPr lang="en-US" sz="1200" dirty="0"/>
          </a:p>
        </p:txBody>
      </p:sp>
      <p:sp>
        <p:nvSpPr>
          <p:cNvPr id="95" name="Shape 93"/>
          <p:cNvSpPr/>
          <p:nvPr/>
        </p:nvSpPr>
        <p:spPr>
          <a:xfrm>
            <a:off x="10058400" y="4953000"/>
            <a:ext cx="1581150" cy="457200"/>
          </a:xfrm>
          <a:prstGeom prst="roundRect">
            <a:avLst>
              <a:gd name="adj" fmla="val 18750"/>
            </a:avLst>
          </a:prstGeom>
          <a:solidFill>
            <a:srgbClr val="2D3034"/>
          </a:solidFill>
          <a:ln w="7620">
            <a:solidFill>
              <a:srgbClr val="F4F6F3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6" name="Text 94"/>
          <p:cNvSpPr/>
          <p:nvPr/>
        </p:nvSpPr>
        <p:spPr>
          <a:xfrm>
            <a:off x="10153650" y="5067300"/>
            <a:ext cx="1390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F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 log</a:t>
            </a:r>
            <a:endParaRPr lang="en-US" sz="1200" dirty="0"/>
          </a:p>
        </p:txBody>
      </p:sp>
      <p:sp>
        <p:nvSpPr>
          <p:cNvPr id="97" name="Shape 95"/>
          <p:cNvSpPr/>
          <p:nvPr/>
        </p:nvSpPr>
        <p:spPr>
          <a:xfrm>
            <a:off x="3371850" y="5905500"/>
            <a:ext cx="5448300" cy="400050"/>
          </a:xfrm>
          <a:prstGeom prst="roundRect">
            <a:avLst>
              <a:gd name="adj" fmla="val 47619"/>
            </a:avLst>
          </a:prstGeom>
          <a:solidFill>
            <a:srgbClr val="2D3A22"/>
          </a:solidFill>
          <a:ln w="10160">
            <a:solidFill>
              <a:srgbClr val="B7FF35">
                <a:alpha val="82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8" name="Text 96"/>
          <p:cNvSpPr/>
          <p:nvPr/>
        </p:nvSpPr>
        <p:spPr>
          <a:xfrm>
            <a:off x="3543300" y="6019800"/>
            <a:ext cx="51054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7FF35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ONE SYSTEM — NOT FOUR PRODUCTS</a:t>
            </a:r>
            <a:endParaRPr lang="en-US" sz="1400" dirty="0"/>
          </a:p>
        </p:txBody>
      </p:sp>
      <p:sp>
        <p:nvSpPr>
          <p:cNvPr id="99" name="Text 97"/>
          <p:cNvSpPr/>
          <p:nvPr/>
        </p:nvSpPr>
        <p:spPr>
          <a:xfrm>
            <a:off x="10953750" y="6496050"/>
            <a:ext cx="685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9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 / 20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2450" y="266700"/>
            <a:ext cx="400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30" dirty="0">
                <a:solidFill>
                  <a:srgbClr val="20C8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DELIVERY DISCIPLINE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52450" y="476250"/>
            <a:ext cx="9334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8" b="1" dirty="0">
                <a:solidFill>
                  <a:srgbClr val="F4F6F3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MVP SCOPE THAT FITS STAGE II</a:t>
            </a:r>
            <a:endParaRPr lang="en-US" sz="2808" dirty="0"/>
          </a:p>
        </p:txBody>
      </p:sp>
      <p:sp>
        <p:nvSpPr>
          <p:cNvPr id="4" name="Shape 2"/>
          <p:cNvSpPr/>
          <p:nvPr/>
        </p:nvSpPr>
        <p:spPr>
          <a:xfrm>
            <a:off x="552450" y="1257300"/>
            <a:ext cx="3505200" cy="4000500"/>
          </a:xfrm>
          <a:prstGeom prst="roundRect">
            <a:avLst>
              <a:gd name="adj" fmla="val 4348"/>
            </a:avLst>
          </a:prstGeom>
          <a:solidFill>
            <a:srgbClr val="FCFFF6"/>
          </a:solidFill>
          <a:ln w="12700">
            <a:solidFill>
              <a:srgbClr val="F2FFDB">
                <a:alpha val="50000"/>
              </a:srgbClr>
            </a:solidFill>
            <a:prstDash val="solid"/>
          </a:ln>
          <a:effectLst>
            <a:outerShdw blurRad="152400" dist="38100" dir="2700000" algn="bl" rotWithShape="0">
              <a:srgbClr val="111827">
                <a:alpha val="34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552450" y="1257300"/>
            <a:ext cx="3505200" cy="47625"/>
          </a:xfrm>
          <a:prstGeom prst="rect">
            <a:avLst/>
          </a:prstGeom>
          <a:solidFill>
            <a:srgbClr val="B7FF35"/>
          </a:solidFill>
          <a:ln w="12700">
            <a:solidFill>
              <a:srgbClr val="B7FF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781050" y="1524000"/>
            <a:ext cx="571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22" b="1" dirty="0">
                <a:solidFill>
                  <a:srgbClr val="B7FF35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01</a:t>
            </a:r>
            <a:endParaRPr lang="en-US" sz="2122" dirty="0"/>
          </a:p>
        </p:txBody>
      </p:sp>
      <p:sp>
        <p:nvSpPr>
          <p:cNvPr id="7" name="Text 5"/>
          <p:cNvSpPr/>
          <p:nvPr/>
        </p:nvSpPr>
        <p:spPr>
          <a:xfrm>
            <a:off x="1447800" y="1543050"/>
            <a:ext cx="23241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35" b="1" dirty="0">
                <a:solidFill>
                  <a:srgbClr val="111111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MUST DEMONSTRATE</a:t>
            </a:r>
            <a:endParaRPr lang="en-US" sz="1435" dirty="0"/>
          </a:p>
        </p:txBody>
      </p:sp>
      <p:sp>
        <p:nvSpPr>
          <p:cNvPr id="8" name="Text 6"/>
          <p:cNvSpPr/>
          <p:nvPr/>
        </p:nvSpPr>
        <p:spPr>
          <a:xfrm>
            <a:off x="1447800" y="1885950"/>
            <a:ext cx="2324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FF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RELIABLE CLOSED LOOP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81050" y="2343150"/>
            <a:ext cx="3048000" cy="457200"/>
          </a:xfrm>
          <a:prstGeom prst="roundRect">
            <a:avLst>
              <a:gd name="adj" fmla="val 18750"/>
            </a:avLst>
          </a:prstGeom>
          <a:solidFill>
            <a:srgbClr val="252F21"/>
          </a:solidFill>
          <a:ln w="7620">
            <a:solidFill>
              <a:srgbClr val="B7FF3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933450" y="2514600"/>
            <a:ext cx="114300" cy="114300"/>
          </a:xfrm>
          <a:prstGeom prst="ellipse">
            <a:avLst/>
          </a:prstGeom>
          <a:solidFill>
            <a:srgbClr val="B7FF35"/>
          </a:solidFill>
          <a:ln w="12700">
            <a:solidFill>
              <a:srgbClr val="B7FF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1181100" y="2428875"/>
            <a:ext cx="24193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fall-event pipeline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1050" y="2914650"/>
            <a:ext cx="3048000" cy="457200"/>
          </a:xfrm>
          <a:prstGeom prst="roundRect">
            <a:avLst>
              <a:gd name="adj" fmla="val 18750"/>
            </a:avLst>
          </a:prstGeom>
          <a:solidFill>
            <a:srgbClr val="252F21"/>
          </a:solidFill>
          <a:ln w="7620">
            <a:solidFill>
              <a:srgbClr val="B7FF3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933450" y="3086100"/>
            <a:ext cx="114300" cy="114300"/>
          </a:xfrm>
          <a:prstGeom prst="ellipse">
            <a:avLst/>
          </a:prstGeom>
          <a:solidFill>
            <a:srgbClr val="B7FF35"/>
          </a:solidFill>
          <a:ln w="12700">
            <a:solidFill>
              <a:srgbClr val="B7FF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1181100" y="3000375"/>
            <a:ext cx="24193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F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Private-zone non-camera simulation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81050" y="3486150"/>
            <a:ext cx="3048000" cy="457200"/>
          </a:xfrm>
          <a:prstGeom prst="roundRect">
            <a:avLst>
              <a:gd name="adj" fmla="val 18750"/>
            </a:avLst>
          </a:prstGeom>
          <a:solidFill>
            <a:srgbClr val="252F21"/>
          </a:solidFill>
          <a:ln w="7620">
            <a:solidFill>
              <a:srgbClr val="B7FF3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933450" y="3657600"/>
            <a:ext cx="114300" cy="114300"/>
          </a:xfrm>
          <a:prstGeom prst="ellipse">
            <a:avLst/>
          </a:prstGeom>
          <a:solidFill>
            <a:srgbClr val="B7FF35"/>
          </a:solidFill>
          <a:ln w="12700">
            <a:solidFill>
              <a:srgbClr val="B7FF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1181100" y="3571875"/>
            <a:ext cx="24193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Privacy-filtered alert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81050" y="4057650"/>
            <a:ext cx="3048000" cy="457200"/>
          </a:xfrm>
          <a:prstGeom prst="roundRect">
            <a:avLst>
              <a:gd name="adj" fmla="val 18750"/>
            </a:avLst>
          </a:prstGeom>
          <a:solidFill>
            <a:srgbClr val="252F21"/>
          </a:solidFill>
          <a:ln w="7620">
            <a:solidFill>
              <a:srgbClr val="B7FF3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933450" y="4229100"/>
            <a:ext cx="114300" cy="114300"/>
          </a:xfrm>
          <a:prstGeom prst="ellipse">
            <a:avLst/>
          </a:prstGeom>
          <a:solidFill>
            <a:srgbClr val="B7FF35"/>
          </a:solidFill>
          <a:ln w="12700">
            <a:solidFill>
              <a:srgbClr val="B7FF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1181100" y="4143375"/>
            <a:ext cx="24193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Offline queue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81050" y="4629150"/>
            <a:ext cx="3048000" cy="457200"/>
          </a:xfrm>
          <a:prstGeom prst="roundRect">
            <a:avLst>
              <a:gd name="adj" fmla="val 18750"/>
            </a:avLst>
          </a:prstGeom>
          <a:solidFill>
            <a:srgbClr val="252F21"/>
          </a:solidFill>
          <a:ln w="7620">
            <a:solidFill>
              <a:srgbClr val="B7FF3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933450" y="4800600"/>
            <a:ext cx="114300" cy="114300"/>
          </a:xfrm>
          <a:prstGeom prst="ellipse">
            <a:avLst/>
          </a:prstGeom>
          <a:solidFill>
            <a:srgbClr val="B7FF35"/>
          </a:solidFill>
          <a:ln w="12700">
            <a:solidFill>
              <a:srgbClr val="B7FF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1181100" y="4714875"/>
            <a:ext cx="24193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Caregiver acknowledge flow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43400" y="1257300"/>
            <a:ext cx="3505200" cy="4000500"/>
          </a:xfrm>
          <a:prstGeom prst="roundRect">
            <a:avLst>
              <a:gd name="adj" fmla="val 4348"/>
            </a:avLst>
          </a:prstGeom>
          <a:solidFill>
            <a:srgbClr val="F5FDFC"/>
          </a:solidFill>
          <a:ln w="12700">
            <a:solidFill>
              <a:srgbClr val="D7F5F2">
                <a:alpha val="50000"/>
              </a:srgbClr>
            </a:solidFill>
            <a:prstDash val="solid"/>
          </a:ln>
          <a:effectLst>
            <a:outerShdw blurRad="152400" dist="38100" dir="2700000" algn="bl" rotWithShape="0">
              <a:srgbClr val="111827">
                <a:alpha val="34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4343400" y="1257300"/>
            <a:ext cx="3505200" cy="47625"/>
          </a:xfrm>
          <a:prstGeom prst="rect">
            <a:avLst/>
          </a:prstGeom>
          <a:solidFill>
            <a:srgbClr val="20C8B6"/>
          </a:solidFill>
          <a:ln w="12700">
            <a:solidFill>
              <a:srgbClr val="20C8B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4572000" y="1524000"/>
            <a:ext cx="571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22" b="1" dirty="0">
                <a:solidFill>
                  <a:srgbClr val="20C8B6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02</a:t>
            </a:r>
            <a:endParaRPr lang="en-US" sz="2122" dirty="0"/>
          </a:p>
        </p:txBody>
      </p:sp>
      <p:sp>
        <p:nvSpPr>
          <p:cNvPr id="27" name="Text 25"/>
          <p:cNvSpPr/>
          <p:nvPr/>
        </p:nvSpPr>
        <p:spPr>
          <a:xfrm>
            <a:off x="5238750" y="1543050"/>
            <a:ext cx="23241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35" b="1" dirty="0">
                <a:solidFill>
                  <a:srgbClr val="111111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SHOULD ADD</a:t>
            </a:r>
            <a:endParaRPr lang="en-US" sz="1435" dirty="0"/>
          </a:p>
        </p:txBody>
      </p:sp>
      <p:sp>
        <p:nvSpPr>
          <p:cNvPr id="28" name="Text 26"/>
          <p:cNvSpPr/>
          <p:nvPr/>
        </p:nvSpPr>
        <p:spPr>
          <a:xfrm>
            <a:off x="5238750" y="1885950"/>
            <a:ext cx="2324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0C8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BREADTH + LIVE ACCELERATION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0" y="2343150"/>
            <a:ext cx="3048000" cy="571500"/>
          </a:xfrm>
          <a:prstGeom prst="roundRect">
            <a:avLst>
              <a:gd name="adj" fmla="val 15000"/>
            </a:avLst>
          </a:prstGeom>
          <a:solidFill>
            <a:srgbClr val="182A2D"/>
          </a:solidFill>
          <a:ln w="7620">
            <a:solidFill>
              <a:srgbClr val="20C8B6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Shape 28"/>
          <p:cNvSpPr/>
          <p:nvPr/>
        </p:nvSpPr>
        <p:spPr>
          <a:xfrm>
            <a:off x="4724400" y="2571750"/>
            <a:ext cx="114300" cy="114300"/>
          </a:xfrm>
          <a:prstGeom prst="ellipse">
            <a:avLst/>
          </a:prstGeom>
          <a:solidFill>
            <a:srgbClr val="20C8B6"/>
          </a:solidFill>
          <a:ln w="12700">
            <a:solidFill>
              <a:srgbClr val="20C8B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/>
          <p:nvPr/>
        </p:nvSpPr>
        <p:spPr>
          <a:xfrm>
            <a:off x="4972050" y="2428875"/>
            <a:ext cx="24193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Wandering adapter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0" y="3028950"/>
            <a:ext cx="3048000" cy="571500"/>
          </a:xfrm>
          <a:prstGeom prst="roundRect">
            <a:avLst>
              <a:gd name="adj" fmla="val 15000"/>
            </a:avLst>
          </a:prstGeom>
          <a:solidFill>
            <a:srgbClr val="182A2D"/>
          </a:solidFill>
          <a:ln w="7620">
            <a:solidFill>
              <a:srgbClr val="20C8B6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Shape 31"/>
          <p:cNvSpPr/>
          <p:nvPr/>
        </p:nvSpPr>
        <p:spPr>
          <a:xfrm>
            <a:off x="4724400" y="3257550"/>
            <a:ext cx="114300" cy="114300"/>
          </a:xfrm>
          <a:prstGeom prst="ellipse">
            <a:avLst/>
          </a:prstGeom>
          <a:solidFill>
            <a:srgbClr val="20C8B6"/>
          </a:solidFill>
          <a:ln w="12700">
            <a:solidFill>
              <a:srgbClr val="20C8B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Text 32"/>
          <p:cNvSpPr/>
          <p:nvPr/>
        </p:nvSpPr>
        <p:spPr>
          <a:xfrm>
            <a:off x="4972050" y="3114675"/>
            <a:ext cx="24193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Medication adapter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0" y="3714750"/>
            <a:ext cx="3048000" cy="571500"/>
          </a:xfrm>
          <a:prstGeom prst="roundRect">
            <a:avLst>
              <a:gd name="adj" fmla="val 15000"/>
            </a:avLst>
          </a:prstGeom>
          <a:solidFill>
            <a:srgbClr val="182A2D"/>
          </a:solidFill>
          <a:ln w="7620">
            <a:solidFill>
              <a:srgbClr val="20C8B6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Shape 34"/>
          <p:cNvSpPr/>
          <p:nvPr/>
        </p:nvSpPr>
        <p:spPr>
          <a:xfrm>
            <a:off x="4724400" y="3943350"/>
            <a:ext cx="114300" cy="114300"/>
          </a:xfrm>
          <a:prstGeom prst="ellipse">
            <a:avLst/>
          </a:prstGeom>
          <a:solidFill>
            <a:srgbClr val="20C8B6"/>
          </a:solidFill>
          <a:ln w="12700">
            <a:solidFill>
              <a:srgbClr val="20C8B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Text 35"/>
          <p:cNvSpPr/>
          <p:nvPr/>
        </p:nvSpPr>
        <p:spPr>
          <a:xfrm>
            <a:off x="4972050" y="3800475"/>
            <a:ext cx="24193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UGen300 inference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572000" y="4400550"/>
            <a:ext cx="3048000" cy="571500"/>
          </a:xfrm>
          <a:prstGeom prst="roundRect">
            <a:avLst>
              <a:gd name="adj" fmla="val 15000"/>
            </a:avLst>
          </a:prstGeom>
          <a:solidFill>
            <a:srgbClr val="182A2D"/>
          </a:solidFill>
          <a:ln w="7620">
            <a:solidFill>
              <a:srgbClr val="20C8B6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Shape 37"/>
          <p:cNvSpPr/>
          <p:nvPr/>
        </p:nvSpPr>
        <p:spPr>
          <a:xfrm>
            <a:off x="4724400" y="4629150"/>
            <a:ext cx="114300" cy="114300"/>
          </a:xfrm>
          <a:prstGeom prst="ellipse">
            <a:avLst/>
          </a:prstGeom>
          <a:solidFill>
            <a:srgbClr val="20C8B6"/>
          </a:solidFill>
          <a:ln w="12700">
            <a:solidFill>
              <a:srgbClr val="20C8B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Text 38"/>
          <p:cNvSpPr/>
          <p:nvPr/>
        </p:nvSpPr>
        <p:spPr>
          <a:xfrm>
            <a:off x="4972050" y="4486275"/>
            <a:ext cx="24193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Hard-negative tests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134350" y="1257300"/>
            <a:ext cx="3505200" cy="4000500"/>
          </a:xfrm>
          <a:prstGeom prst="roundRect">
            <a:avLst>
              <a:gd name="adj" fmla="val 4348"/>
            </a:avLst>
          </a:prstGeom>
          <a:solidFill>
            <a:srgbClr val="FFFCF7"/>
          </a:solidFill>
          <a:ln w="12700">
            <a:solidFill>
              <a:srgbClr val="FFF1DE">
                <a:alpha val="50000"/>
              </a:srgbClr>
            </a:solidFill>
            <a:prstDash val="solid"/>
          </a:ln>
          <a:effectLst>
            <a:outerShdw blurRad="152400" dist="38100" dir="2700000" algn="bl" rotWithShape="0">
              <a:srgbClr val="111827">
                <a:alpha val="34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2" name="Shape 40"/>
          <p:cNvSpPr/>
          <p:nvPr/>
        </p:nvSpPr>
        <p:spPr>
          <a:xfrm>
            <a:off x="8134350" y="1257300"/>
            <a:ext cx="3505200" cy="47625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Text 41"/>
          <p:cNvSpPr/>
          <p:nvPr/>
        </p:nvSpPr>
        <p:spPr>
          <a:xfrm>
            <a:off x="8362950" y="1524000"/>
            <a:ext cx="5715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22" b="1" dirty="0">
                <a:solidFill>
                  <a:srgbClr val="FFB347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03</a:t>
            </a:r>
            <a:endParaRPr lang="en-US" sz="2122" dirty="0"/>
          </a:p>
        </p:txBody>
      </p:sp>
      <p:sp>
        <p:nvSpPr>
          <p:cNvPr id="44" name="Text 42"/>
          <p:cNvSpPr/>
          <p:nvPr/>
        </p:nvSpPr>
        <p:spPr>
          <a:xfrm>
            <a:off x="9029700" y="1543050"/>
            <a:ext cx="23241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35" b="1" dirty="0">
                <a:solidFill>
                  <a:srgbClr val="111111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LATER</a:t>
            </a:r>
            <a:endParaRPr lang="en-US" sz="1435" dirty="0"/>
          </a:p>
        </p:txBody>
      </p:sp>
      <p:sp>
        <p:nvSpPr>
          <p:cNvPr id="45" name="Text 43"/>
          <p:cNvSpPr/>
          <p:nvPr/>
        </p:nvSpPr>
        <p:spPr>
          <a:xfrm>
            <a:off x="9029700" y="1885950"/>
            <a:ext cx="2324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EXPAND AFTER EVIDENCE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8362950" y="2343150"/>
            <a:ext cx="3048000" cy="723900"/>
          </a:xfrm>
          <a:prstGeom prst="roundRect">
            <a:avLst>
              <a:gd name="adj" fmla="val 11842"/>
            </a:avLst>
          </a:prstGeom>
          <a:solidFill>
            <a:srgbClr val="2C2823"/>
          </a:solidFill>
          <a:ln w="7620">
            <a:solidFill>
              <a:srgbClr val="FFB34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7" name="Shape 45"/>
          <p:cNvSpPr/>
          <p:nvPr/>
        </p:nvSpPr>
        <p:spPr>
          <a:xfrm>
            <a:off x="8515350" y="2647950"/>
            <a:ext cx="114300" cy="11430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8" name="Text 46"/>
          <p:cNvSpPr/>
          <p:nvPr/>
        </p:nvSpPr>
        <p:spPr>
          <a:xfrm>
            <a:off x="8763000" y="2428875"/>
            <a:ext cx="24193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Voice companionship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8362950" y="3181350"/>
            <a:ext cx="3048000" cy="723900"/>
          </a:xfrm>
          <a:prstGeom prst="roundRect">
            <a:avLst>
              <a:gd name="adj" fmla="val 11842"/>
            </a:avLst>
          </a:prstGeom>
          <a:solidFill>
            <a:srgbClr val="2C2823"/>
          </a:solidFill>
          <a:ln w="7620">
            <a:solidFill>
              <a:srgbClr val="FFB34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Shape 48"/>
          <p:cNvSpPr/>
          <p:nvPr/>
        </p:nvSpPr>
        <p:spPr>
          <a:xfrm>
            <a:off x="8515350" y="3486150"/>
            <a:ext cx="114300" cy="11430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1" name="Text 49"/>
          <p:cNvSpPr/>
          <p:nvPr/>
        </p:nvSpPr>
        <p:spPr>
          <a:xfrm>
            <a:off x="8763000" y="3267075"/>
            <a:ext cx="24193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Longitudinal risk trends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8362950" y="4019550"/>
            <a:ext cx="3048000" cy="723900"/>
          </a:xfrm>
          <a:prstGeom prst="roundRect">
            <a:avLst>
              <a:gd name="adj" fmla="val 11842"/>
            </a:avLst>
          </a:prstGeom>
          <a:solidFill>
            <a:srgbClr val="2C2823"/>
          </a:solidFill>
          <a:ln w="7620">
            <a:solidFill>
              <a:srgbClr val="FFB347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3" name="Shape 51"/>
          <p:cNvSpPr/>
          <p:nvPr/>
        </p:nvSpPr>
        <p:spPr>
          <a:xfrm>
            <a:off x="8515350" y="4324350"/>
            <a:ext cx="114300" cy="11430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4" name="Text 52"/>
          <p:cNvSpPr/>
          <p:nvPr/>
        </p:nvSpPr>
        <p:spPr>
          <a:xfrm>
            <a:off x="8763000" y="4105275"/>
            <a:ext cx="24193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Optional mobility dock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552450" y="5505450"/>
            <a:ext cx="11087100" cy="781050"/>
          </a:xfrm>
          <a:prstGeom prst="roundRect">
            <a:avLst>
              <a:gd name="adj" fmla="val 17073"/>
            </a:avLst>
          </a:prstGeom>
          <a:solidFill>
            <a:srgbClr val="2A2622"/>
          </a:solidFill>
          <a:ln w="12700">
            <a:solidFill>
              <a:srgbClr val="FFB347">
                <a:alpha val="64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6" name="Text 54"/>
          <p:cNvSpPr/>
          <p:nvPr/>
        </p:nvSpPr>
        <p:spPr>
          <a:xfrm>
            <a:off x="800100" y="5667375"/>
            <a:ext cx="14287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347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NON-GOALS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2362200" y="5686425"/>
            <a:ext cx="897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4F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DIAGNOSIS · NO AUTONOMOUS EMERGENCY CALLING · NO HUMANOID MANIPULATION · NO DRONE PATROL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2362200" y="6000750"/>
            <a:ext cx="89725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9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scope is deliberately narrower than the original robot-and-drone concept.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10953750" y="6496050"/>
            <a:ext cx="685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9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20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2450" y="266700"/>
            <a:ext cx="4762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20C8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 LOGIC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52450" y="476250"/>
            <a:ext cx="98107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70" b="1" dirty="0">
                <a:solidFill>
                  <a:srgbClr val="F4F6F3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SENSOR BY ZONE — PRIVACY BY DESIGN</a:t>
            </a:r>
            <a:endParaRPr lang="en-US" sz="2870" dirty="0"/>
          </a:p>
        </p:txBody>
      </p:sp>
      <p:sp>
        <p:nvSpPr>
          <p:cNvPr id="4" name="Text 2"/>
          <p:cNvSpPr/>
          <p:nvPr/>
        </p:nvSpPr>
        <p:spPr>
          <a:xfrm>
            <a:off x="10953750" y="6496050"/>
            <a:ext cx="685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9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/ 20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52450" y="1352550"/>
            <a:ext cx="5448300" cy="1809750"/>
          </a:xfrm>
          <a:prstGeom prst="roundRect">
            <a:avLst>
              <a:gd name="adj" fmla="val 7368"/>
            </a:avLst>
          </a:prstGeom>
          <a:solidFill>
            <a:srgbClr val="FCFFF7"/>
          </a:solidFill>
          <a:ln w="12700">
            <a:solidFill>
              <a:srgbClr val="F2FFDB">
                <a:alpha val="50000"/>
              </a:srgbClr>
            </a:solidFill>
            <a:prstDash val="solid"/>
          </a:ln>
          <a:effectLst>
            <a:outerShdw blurRad="152400" dist="38100" dir="2700000" algn="bl" rotWithShape="0">
              <a:srgbClr val="111827">
                <a:alpha val="34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762000" y="1581150"/>
            <a:ext cx="76200" cy="1352550"/>
          </a:xfrm>
          <a:prstGeom prst="rect">
            <a:avLst/>
          </a:prstGeom>
          <a:solidFill>
            <a:srgbClr val="B7FF35"/>
          </a:solidFill>
          <a:ln w="12700">
            <a:solidFill>
              <a:srgbClr val="B7FF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1028700" y="1581150"/>
            <a:ext cx="3143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85" b="1" dirty="0">
                <a:solidFill>
                  <a:srgbClr val="111111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SHARED SPACE</a:t>
            </a:r>
            <a:endParaRPr lang="en-US" sz="1685" dirty="0"/>
          </a:p>
        </p:txBody>
      </p:sp>
      <p:sp>
        <p:nvSpPr>
          <p:cNvPr id="8" name="Shape 6"/>
          <p:cNvSpPr/>
          <p:nvPr/>
        </p:nvSpPr>
        <p:spPr>
          <a:xfrm>
            <a:off x="4267200" y="1581150"/>
            <a:ext cx="1485900" cy="285750"/>
          </a:xfrm>
          <a:prstGeom prst="roundRect">
            <a:avLst>
              <a:gd name="adj" fmla="val 46667"/>
            </a:avLst>
          </a:prstGeom>
          <a:solidFill>
            <a:srgbClr val="445A25"/>
          </a:solidFill>
          <a:ln w="7620">
            <a:solidFill>
              <a:srgbClr val="B7FF35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4362450" y="1647825"/>
            <a:ext cx="1295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7FF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CONSENTED RGB / IR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28700" y="2076450"/>
            <a:ext cx="46291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354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Posture and activity where video use is explicitly approved.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991100" y="2609850"/>
            <a:ext cx="228600" cy="228600"/>
          </a:xfrm>
          <a:prstGeom prst="ellipse">
            <a:avLst/>
          </a:prstGeom>
          <a:solidFill>
            <a:srgbClr val="171A1F">
              <a:alpha val="0"/>
            </a:srgbClr>
          </a:solidFill>
          <a:ln w="12700">
            <a:solidFill>
              <a:srgbClr val="B7FF35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4895850" y="2514600"/>
            <a:ext cx="419100" cy="419100"/>
          </a:xfrm>
          <a:prstGeom prst="ellipse">
            <a:avLst/>
          </a:prstGeom>
          <a:solidFill>
            <a:srgbClr val="171A1F">
              <a:alpha val="0"/>
            </a:srgbClr>
          </a:solidFill>
          <a:ln w="12700">
            <a:solidFill>
              <a:srgbClr val="B7FF35">
                <a:alpha val="57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4800600" y="2419350"/>
            <a:ext cx="609600" cy="609600"/>
          </a:xfrm>
          <a:prstGeom prst="ellipse">
            <a:avLst/>
          </a:prstGeom>
          <a:solidFill>
            <a:srgbClr val="171A1F">
              <a:alpha val="0"/>
            </a:srgbClr>
          </a:solidFill>
          <a:ln w="12700">
            <a:solidFill>
              <a:srgbClr val="B7FF35">
                <a:alpha val="39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6191250" y="1352550"/>
            <a:ext cx="5448300" cy="1809750"/>
          </a:xfrm>
          <a:prstGeom prst="roundRect">
            <a:avLst>
              <a:gd name="adj" fmla="val 7368"/>
            </a:avLst>
          </a:prstGeom>
          <a:solidFill>
            <a:srgbClr val="F6FDFC"/>
          </a:solidFill>
          <a:ln w="12700">
            <a:solidFill>
              <a:srgbClr val="D7F5F2">
                <a:alpha val="50000"/>
              </a:srgbClr>
            </a:solidFill>
            <a:prstDash val="solid"/>
          </a:ln>
          <a:effectLst>
            <a:outerShdw blurRad="152400" dist="38100" dir="2700000" algn="bl" rotWithShape="0">
              <a:srgbClr val="111827">
                <a:alpha val="34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6400800" y="1581150"/>
            <a:ext cx="76200" cy="1352550"/>
          </a:xfrm>
          <a:prstGeom prst="rect">
            <a:avLst/>
          </a:prstGeom>
          <a:solidFill>
            <a:srgbClr val="20C8B6"/>
          </a:solidFill>
          <a:ln w="12700">
            <a:solidFill>
              <a:srgbClr val="20C8B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6667500" y="1581150"/>
            <a:ext cx="3143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85" b="1" dirty="0">
                <a:solidFill>
                  <a:srgbClr val="111111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BEDROOM</a:t>
            </a:r>
            <a:endParaRPr lang="en-US" sz="1685" dirty="0"/>
          </a:p>
        </p:txBody>
      </p:sp>
      <p:sp>
        <p:nvSpPr>
          <p:cNvPr id="17" name="Shape 15"/>
          <p:cNvSpPr/>
          <p:nvPr/>
        </p:nvSpPr>
        <p:spPr>
          <a:xfrm>
            <a:off x="9906000" y="1581150"/>
            <a:ext cx="1485900" cy="285750"/>
          </a:xfrm>
          <a:prstGeom prst="roundRect">
            <a:avLst>
              <a:gd name="adj" fmla="val 46667"/>
            </a:avLst>
          </a:prstGeom>
          <a:solidFill>
            <a:srgbClr val="1A4B49"/>
          </a:solidFill>
          <a:ln w="7620">
            <a:solidFill>
              <a:srgbClr val="20C8B6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10001250" y="1647825"/>
            <a:ext cx="1295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0C8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MMWAVE + BED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67500" y="2076450"/>
            <a:ext cx="46291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153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Image-free by default. Combine motion and bed status locally.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629900" y="2609850"/>
            <a:ext cx="228600" cy="228600"/>
          </a:xfrm>
          <a:prstGeom prst="ellipse">
            <a:avLst/>
          </a:prstGeom>
          <a:solidFill>
            <a:srgbClr val="171A1F">
              <a:alpha val="0"/>
            </a:srgbClr>
          </a:solidFill>
          <a:ln w="12700">
            <a:solidFill>
              <a:srgbClr val="20C8B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10534650" y="2514600"/>
            <a:ext cx="419100" cy="419100"/>
          </a:xfrm>
          <a:prstGeom prst="ellipse">
            <a:avLst/>
          </a:prstGeom>
          <a:solidFill>
            <a:srgbClr val="171A1F">
              <a:alpha val="0"/>
            </a:srgbClr>
          </a:solidFill>
          <a:ln w="12700">
            <a:solidFill>
              <a:srgbClr val="20C8B6">
                <a:alpha val="57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10439400" y="2419350"/>
            <a:ext cx="609600" cy="609600"/>
          </a:xfrm>
          <a:prstGeom prst="ellipse">
            <a:avLst/>
          </a:prstGeom>
          <a:solidFill>
            <a:srgbClr val="171A1F">
              <a:alpha val="0"/>
            </a:srgbClr>
          </a:solidFill>
          <a:ln w="12700">
            <a:solidFill>
              <a:srgbClr val="20C8B6">
                <a:alpha val="39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552450" y="3543300"/>
            <a:ext cx="5448300" cy="1809750"/>
          </a:xfrm>
          <a:prstGeom prst="roundRect">
            <a:avLst>
              <a:gd name="adj" fmla="val 7368"/>
            </a:avLst>
          </a:prstGeom>
          <a:solidFill>
            <a:srgbClr val="F6FDFC"/>
          </a:solidFill>
          <a:ln w="12700">
            <a:solidFill>
              <a:srgbClr val="D7F5F2">
                <a:alpha val="50000"/>
              </a:srgbClr>
            </a:solidFill>
            <a:prstDash val="solid"/>
          </a:ln>
          <a:effectLst>
            <a:outerShdw blurRad="152400" dist="38100" dir="2700000" algn="bl" rotWithShape="0">
              <a:srgbClr val="111827">
                <a:alpha val="34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762000" y="3771900"/>
            <a:ext cx="76200" cy="1352550"/>
          </a:xfrm>
          <a:prstGeom prst="rect">
            <a:avLst/>
          </a:prstGeom>
          <a:solidFill>
            <a:srgbClr val="20C8B6"/>
          </a:solidFill>
          <a:ln w="12700">
            <a:solidFill>
              <a:srgbClr val="20C8B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1028700" y="3771900"/>
            <a:ext cx="3143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85" b="1" dirty="0">
                <a:solidFill>
                  <a:srgbClr val="111111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BATHROOM</a:t>
            </a:r>
            <a:endParaRPr lang="en-US" sz="1685" dirty="0"/>
          </a:p>
        </p:txBody>
      </p:sp>
      <p:sp>
        <p:nvSpPr>
          <p:cNvPr id="26" name="Shape 24"/>
          <p:cNvSpPr/>
          <p:nvPr/>
        </p:nvSpPr>
        <p:spPr>
          <a:xfrm>
            <a:off x="4267200" y="3771900"/>
            <a:ext cx="1485900" cy="285750"/>
          </a:xfrm>
          <a:prstGeom prst="roundRect">
            <a:avLst>
              <a:gd name="adj" fmla="val 46667"/>
            </a:avLst>
          </a:prstGeom>
          <a:solidFill>
            <a:srgbClr val="1A4B49"/>
          </a:solidFill>
          <a:ln w="7620">
            <a:solidFill>
              <a:srgbClr val="20C8B6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4362450" y="3838575"/>
            <a:ext cx="1295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0C8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MMWAVE / THERMAL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28700" y="4267200"/>
            <a:ext cx="46291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153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visible-light camera. Detect event features without identity.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991100" y="4800600"/>
            <a:ext cx="228600" cy="228600"/>
          </a:xfrm>
          <a:prstGeom prst="ellipse">
            <a:avLst/>
          </a:prstGeom>
          <a:solidFill>
            <a:srgbClr val="171A1F">
              <a:alpha val="0"/>
            </a:srgbClr>
          </a:solidFill>
          <a:ln w="12700">
            <a:solidFill>
              <a:srgbClr val="20C8B6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Shape 28"/>
          <p:cNvSpPr/>
          <p:nvPr/>
        </p:nvSpPr>
        <p:spPr>
          <a:xfrm>
            <a:off x="4895850" y="4705350"/>
            <a:ext cx="419100" cy="419100"/>
          </a:xfrm>
          <a:prstGeom prst="ellipse">
            <a:avLst/>
          </a:prstGeom>
          <a:solidFill>
            <a:srgbClr val="171A1F">
              <a:alpha val="0"/>
            </a:srgbClr>
          </a:solidFill>
          <a:ln w="12700">
            <a:solidFill>
              <a:srgbClr val="20C8B6">
                <a:alpha val="57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Shape 29"/>
          <p:cNvSpPr/>
          <p:nvPr/>
        </p:nvSpPr>
        <p:spPr>
          <a:xfrm>
            <a:off x="4800600" y="4610100"/>
            <a:ext cx="609600" cy="609600"/>
          </a:xfrm>
          <a:prstGeom prst="ellipse">
            <a:avLst/>
          </a:prstGeom>
          <a:solidFill>
            <a:srgbClr val="171A1F">
              <a:alpha val="0"/>
            </a:srgbClr>
          </a:solidFill>
          <a:ln w="12700">
            <a:solidFill>
              <a:srgbClr val="20C8B6">
                <a:alpha val="39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Shape 30"/>
          <p:cNvSpPr/>
          <p:nvPr/>
        </p:nvSpPr>
        <p:spPr>
          <a:xfrm>
            <a:off x="6191250" y="3543300"/>
            <a:ext cx="5448300" cy="1809750"/>
          </a:xfrm>
          <a:prstGeom prst="roundRect">
            <a:avLst>
              <a:gd name="adj" fmla="val 7368"/>
            </a:avLst>
          </a:prstGeom>
          <a:solidFill>
            <a:srgbClr val="FFFCF8"/>
          </a:solidFill>
          <a:ln w="12700">
            <a:solidFill>
              <a:srgbClr val="FFF1DE">
                <a:alpha val="50000"/>
              </a:srgbClr>
            </a:solidFill>
            <a:prstDash val="solid"/>
          </a:ln>
          <a:effectLst>
            <a:outerShdw blurRad="152400" dist="38100" dir="2700000" algn="bl" rotWithShape="0">
              <a:srgbClr val="111827">
                <a:alpha val="34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3" name="Shape 31"/>
          <p:cNvSpPr/>
          <p:nvPr/>
        </p:nvSpPr>
        <p:spPr>
          <a:xfrm>
            <a:off x="6400800" y="3771900"/>
            <a:ext cx="76200" cy="1352550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Text 32"/>
          <p:cNvSpPr/>
          <p:nvPr/>
        </p:nvSpPr>
        <p:spPr>
          <a:xfrm>
            <a:off x="6667500" y="3771900"/>
            <a:ext cx="3143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85" b="1" dirty="0">
                <a:solidFill>
                  <a:srgbClr val="111111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MEDICATION AREA</a:t>
            </a:r>
            <a:endParaRPr lang="en-US" sz="1685" dirty="0"/>
          </a:p>
        </p:txBody>
      </p:sp>
      <p:sp>
        <p:nvSpPr>
          <p:cNvPr id="35" name="Shape 33"/>
          <p:cNvSpPr/>
          <p:nvPr/>
        </p:nvSpPr>
        <p:spPr>
          <a:xfrm>
            <a:off x="9906000" y="3771900"/>
            <a:ext cx="1485900" cy="285750"/>
          </a:xfrm>
          <a:prstGeom prst="roundRect">
            <a:avLst>
              <a:gd name="adj" fmla="val 46667"/>
            </a:avLst>
          </a:prstGeom>
          <a:solidFill>
            <a:srgbClr val="58452A"/>
          </a:solidFill>
          <a:ln w="7620">
            <a:solidFill>
              <a:srgbClr val="FFB347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Text 34"/>
          <p:cNvSpPr/>
          <p:nvPr/>
        </p:nvSpPr>
        <p:spPr>
          <a:xfrm>
            <a:off x="10001250" y="3838575"/>
            <a:ext cx="1295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B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CONTACT / WEIGHT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667500" y="4267200"/>
            <a:ext cx="46291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453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Smart-box signals drive reminders and delayed escalation.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0629900" y="4800600"/>
            <a:ext cx="228600" cy="228600"/>
          </a:xfrm>
          <a:prstGeom prst="ellipse">
            <a:avLst/>
          </a:prstGeom>
          <a:solidFill>
            <a:srgbClr val="171A1F">
              <a:alpha val="0"/>
            </a:srgbClr>
          </a:solidFill>
          <a:ln w="12700">
            <a:solidFill>
              <a:srgbClr val="FFB347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Shape 37"/>
          <p:cNvSpPr/>
          <p:nvPr/>
        </p:nvSpPr>
        <p:spPr>
          <a:xfrm>
            <a:off x="10534650" y="4705350"/>
            <a:ext cx="419100" cy="419100"/>
          </a:xfrm>
          <a:prstGeom prst="ellipse">
            <a:avLst/>
          </a:prstGeom>
          <a:solidFill>
            <a:srgbClr val="171A1F">
              <a:alpha val="0"/>
            </a:srgbClr>
          </a:solidFill>
          <a:ln w="12700">
            <a:solidFill>
              <a:srgbClr val="FFB347">
                <a:alpha val="57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Shape 38"/>
          <p:cNvSpPr/>
          <p:nvPr/>
        </p:nvSpPr>
        <p:spPr>
          <a:xfrm>
            <a:off x="10439400" y="4610100"/>
            <a:ext cx="609600" cy="609600"/>
          </a:xfrm>
          <a:prstGeom prst="ellipse">
            <a:avLst/>
          </a:prstGeom>
          <a:solidFill>
            <a:srgbClr val="171A1F">
              <a:alpha val="0"/>
            </a:srgbClr>
          </a:solidFill>
          <a:ln w="12700">
            <a:solidFill>
              <a:srgbClr val="FFB347">
                <a:alpha val="39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Shape 39"/>
          <p:cNvSpPr/>
          <p:nvPr/>
        </p:nvSpPr>
        <p:spPr>
          <a:xfrm>
            <a:off x="2990850" y="3086100"/>
            <a:ext cx="6210300" cy="609600"/>
          </a:xfrm>
          <a:prstGeom prst="roundRect">
            <a:avLst>
              <a:gd name="adj" fmla="val 46875"/>
            </a:avLst>
          </a:prstGeom>
          <a:solidFill>
            <a:srgbClr val="171A1F"/>
          </a:solidFill>
          <a:ln w="13970">
            <a:solidFill>
              <a:srgbClr val="B7FF3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Text 40"/>
          <p:cNvSpPr/>
          <p:nvPr/>
        </p:nvSpPr>
        <p:spPr>
          <a:xfrm>
            <a:off x="3219450" y="3276600"/>
            <a:ext cx="575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7FF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EDGE NODE · RAW SIGNALS STAY LOCAL · STRUCTURED EVENTS ONLY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52450" y="5905500"/>
            <a:ext cx="11087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F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 · No sensor is chosen before the care question and privacy boundary are defined.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2450" y="266700"/>
            <a:ext cx="400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30" dirty="0">
                <a:solidFill>
                  <a:srgbClr val="20C8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BATTLEFIELD LIGHTNING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52450" y="476250"/>
            <a:ext cx="10382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83" b="1" dirty="0">
                <a:solidFill>
                  <a:srgbClr val="F4F6F3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HARDWARE ARCHITECTURE — LIGHTWEIGHT BY CHOICE</a:t>
            </a:r>
            <a:endParaRPr lang="en-US" sz="2683" dirty="0"/>
          </a:p>
        </p:txBody>
      </p:sp>
      <p:sp>
        <p:nvSpPr>
          <p:cNvPr id="4" name="Shape 2"/>
          <p:cNvSpPr/>
          <p:nvPr/>
        </p:nvSpPr>
        <p:spPr>
          <a:xfrm>
            <a:off x="552450" y="1352550"/>
            <a:ext cx="3048000" cy="4095750"/>
          </a:xfrm>
          <a:prstGeom prst="roundRect">
            <a:avLst>
              <a:gd name="adj" fmla="val 5000"/>
            </a:avLst>
          </a:prstGeom>
          <a:solidFill>
            <a:srgbClr val="F6FDFC"/>
          </a:solidFill>
          <a:ln w="12700">
            <a:solidFill>
              <a:srgbClr val="D7F5F2">
                <a:alpha val="52000"/>
              </a:srgbClr>
            </a:solidFill>
            <a:prstDash val="solid"/>
          </a:ln>
          <a:effectLst>
            <a:outerShdw blurRad="152400" dist="38100" dir="2700000" algn="bl" rotWithShape="0">
              <a:srgbClr val="111827">
                <a:alpha val="34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781050" y="1600200"/>
            <a:ext cx="25908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10" b="1" dirty="0">
                <a:solidFill>
                  <a:srgbClr val="20C8B6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SENSE</a:t>
            </a:r>
            <a:endParaRPr lang="en-US" sz="1810" dirty="0"/>
          </a:p>
        </p:txBody>
      </p:sp>
      <p:sp>
        <p:nvSpPr>
          <p:cNvPr id="6" name="Text 4"/>
          <p:cNvSpPr/>
          <p:nvPr/>
        </p:nvSpPr>
        <p:spPr>
          <a:xfrm>
            <a:off x="781050" y="2019300"/>
            <a:ext cx="2590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5153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APPROVED INPUTS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81050" y="2457450"/>
            <a:ext cx="2590800" cy="495300"/>
          </a:xfrm>
          <a:prstGeom prst="roundRect">
            <a:avLst>
              <a:gd name="adj" fmla="val 15385"/>
            </a:avLst>
          </a:prstGeom>
          <a:solidFill>
            <a:srgbClr val="18282B"/>
          </a:solidFill>
          <a:ln w="7620">
            <a:solidFill>
              <a:srgbClr val="20C8B6">
                <a:alpha val="34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914400" y="2524125"/>
            <a:ext cx="23241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RGB / IR — consented shared areas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81050" y="3048000"/>
            <a:ext cx="2590800" cy="495300"/>
          </a:xfrm>
          <a:prstGeom prst="roundRect">
            <a:avLst>
              <a:gd name="adj" fmla="val 15385"/>
            </a:avLst>
          </a:prstGeom>
          <a:solidFill>
            <a:srgbClr val="18282B"/>
          </a:solidFill>
          <a:ln w="7620">
            <a:solidFill>
              <a:srgbClr val="20C8B6">
                <a:alpha val="34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914400" y="3114675"/>
            <a:ext cx="23241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mmWave / thermal / bed — private zones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81050" y="3638550"/>
            <a:ext cx="2590800" cy="495300"/>
          </a:xfrm>
          <a:prstGeom prst="roundRect">
            <a:avLst>
              <a:gd name="adj" fmla="val 15385"/>
            </a:avLst>
          </a:prstGeom>
          <a:solidFill>
            <a:srgbClr val="18282B"/>
          </a:solidFill>
          <a:ln w="7620">
            <a:solidFill>
              <a:srgbClr val="20C8B6">
                <a:alpha val="34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914400" y="3705225"/>
            <a:ext cx="23241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medication box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095750" y="1352550"/>
            <a:ext cx="4000500" cy="4095750"/>
          </a:xfrm>
          <a:prstGeom prst="roundRect">
            <a:avLst>
              <a:gd name="adj" fmla="val 3810"/>
            </a:avLst>
          </a:prstGeom>
          <a:solidFill>
            <a:srgbClr val="FAFFF1"/>
          </a:solidFill>
          <a:ln w="12700">
            <a:solidFill>
              <a:srgbClr val="ECFFCA">
                <a:alpha val="52000"/>
              </a:srgbClr>
            </a:solidFill>
            <a:prstDash val="solid"/>
          </a:ln>
          <a:effectLst>
            <a:outerShdw blurRad="152400" dist="38100" dir="2700000" algn="bl" rotWithShape="0">
              <a:srgbClr val="111827">
                <a:alpha val="34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4324350" y="1600200"/>
            <a:ext cx="35433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84" b="1" dirty="0">
                <a:solidFill>
                  <a:srgbClr val="B7FF35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COMPUTE</a:t>
            </a:r>
            <a:endParaRPr lang="en-US" sz="2184" dirty="0"/>
          </a:p>
        </p:txBody>
      </p:sp>
      <p:sp>
        <p:nvSpPr>
          <p:cNvPr id="15" name="Text 13"/>
          <p:cNvSpPr/>
          <p:nvPr/>
        </p:nvSpPr>
        <p:spPr>
          <a:xfrm>
            <a:off x="4324350" y="2019300"/>
            <a:ext cx="3543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5254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EDGE CORE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95875" y="2400300"/>
            <a:ext cx="2000250" cy="647700"/>
          </a:xfrm>
          <a:prstGeom prst="roundRect">
            <a:avLst>
              <a:gd name="adj" fmla="val 17647"/>
            </a:avLst>
          </a:prstGeom>
          <a:solidFill>
            <a:srgbClr val="415625"/>
          </a:solidFill>
          <a:ln w="13970">
            <a:solidFill>
              <a:srgbClr val="B7FF35">
                <a:alpha val="88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5353050" y="2571750"/>
            <a:ext cx="1485900" cy="38100"/>
          </a:xfrm>
          <a:prstGeom prst="rect">
            <a:avLst/>
          </a:prstGeom>
          <a:solidFill>
            <a:srgbClr val="B7FF35"/>
          </a:solidFill>
          <a:ln w="12700">
            <a:solidFill>
              <a:srgbClr val="B7FF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5238750" y="2724150"/>
            <a:ext cx="1714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F6F3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ASUS UGen300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324350" y="3238500"/>
            <a:ext cx="3543300" cy="222250"/>
          </a:xfrm>
          <a:prstGeom prst="roundRect">
            <a:avLst>
              <a:gd name="adj" fmla="val 34286"/>
            </a:avLst>
          </a:prstGeom>
          <a:solidFill>
            <a:srgbClr val="242C21"/>
          </a:solidFill>
          <a:ln w="7620">
            <a:solidFill>
              <a:srgbClr val="B7FF35">
                <a:alpha val="34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4457700" y="3305175"/>
            <a:ext cx="3276600" cy="88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Host controller + ASUS UGen300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4324350" y="3556000"/>
            <a:ext cx="3543300" cy="222250"/>
          </a:xfrm>
          <a:prstGeom prst="roundRect">
            <a:avLst>
              <a:gd name="adj" fmla="val 34286"/>
            </a:avLst>
          </a:prstGeom>
          <a:solidFill>
            <a:srgbClr val="242C21"/>
          </a:solidFill>
          <a:ln w="7620">
            <a:solidFill>
              <a:srgbClr val="B7FF35">
                <a:alpha val="34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4457700" y="3622675"/>
            <a:ext cx="3276600" cy="88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Hailo-10H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324350" y="3873500"/>
            <a:ext cx="3543300" cy="222250"/>
          </a:xfrm>
          <a:prstGeom prst="roundRect">
            <a:avLst>
              <a:gd name="adj" fmla="val 34286"/>
            </a:avLst>
          </a:prstGeom>
          <a:solidFill>
            <a:srgbClr val="242C21"/>
          </a:solidFill>
          <a:ln w="7620">
            <a:solidFill>
              <a:srgbClr val="B7FF35">
                <a:alpha val="34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4457700" y="3940175"/>
            <a:ext cx="3276600" cy="88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 to 40 TOPS · INT4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324350" y="4191000"/>
            <a:ext cx="3543300" cy="222250"/>
          </a:xfrm>
          <a:prstGeom prst="roundRect">
            <a:avLst>
              <a:gd name="adj" fmla="val 34286"/>
            </a:avLst>
          </a:prstGeom>
          <a:solidFill>
            <a:srgbClr val="242C21"/>
          </a:solidFill>
          <a:ln w="7620">
            <a:solidFill>
              <a:srgbClr val="B7FF35">
                <a:alpha val="34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4457700" y="4257675"/>
            <a:ext cx="3276600" cy="88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GB dedicated memory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324350" y="4508500"/>
            <a:ext cx="3543300" cy="222250"/>
          </a:xfrm>
          <a:prstGeom prst="roundRect">
            <a:avLst>
              <a:gd name="adj" fmla="val 34286"/>
            </a:avLst>
          </a:prstGeom>
          <a:solidFill>
            <a:srgbClr val="242C21"/>
          </a:solidFill>
          <a:ln w="7620">
            <a:solidFill>
              <a:srgbClr val="B7FF35">
                <a:alpha val="34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4457700" y="4575175"/>
            <a:ext cx="3276600" cy="88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150+ pretrained models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4324350" y="4826000"/>
            <a:ext cx="3543300" cy="222250"/>
          </a:xfrm>
          <a:prstGeom prst="roundRect">
            <a:avLst>
              <a:gd name="adj" fmla="val 34286"/>
            </a:avLst>
          </a:prstGeom>
          <a:solidFill>
            <a:srgbClr val="242C21"/>
          </a:solidFill>
          <a:ln w="7620">
            <a:solidFill>
              <a:srgbClr val="B7FF35">
                <a:alpha val="34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4457700" y="4892675"/>
            <a:ext cx="3276600" cy="88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M.2 or USB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8591550" y="1352550"/>
            <a:ext cx="3048000" cy="4095750"/>
          </a:xfrm>
          <a:prstGeom prst="roundRect">
            <a:avLst>
              <a:gd name="adj" fmla="val 5000"/>
            </a:avLst>
          </a:prstGeom>
          <a:solidFill>
            <a:srgbClr val="FFFCF8"/>
          </a:solidFill>
          <a:ln w="12700">
            <a:solidFill>
              <a:srgbClr val="FFF1DE">
                <a:alpha val="52000"/>
              </a:srgbClr>
            </a:solidFill>
            <a:prstDash val="solid"/>
          </a:ln>
          <a:effectLst>
            <a:outerShdw blurRad="152400" dist="38100" dir="2700000" algn="bl" rotWithShape="0">
              <a:srgbClr val="111827">
                <a:alpha val="34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2" name="Text 30"/>
          <p:cNvSpPr/>
          <p:nvPr/>
        </p:nvSpPr>
        <p:spPr>
          <a:xfrm>
            <a:off x="8820150" y="1600200"/>
            <a:ext cx="25908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10" b="1" dirty="0">
                <a:solidFill>
                  <a:srgbClr val="FFB347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ACT</a:t>
            </a:r>
            <a:endParaRPr lang="en-US" sz="1810" dirty="0"/>
          </a:p>
        </p:txBody>
      </p:sp>
      <p:sp>
        <p:nvSpPr>
          <p:cNvPr id="33" name="Text 31"/>
          <p:cNvSpPr/>
          <p:nvPr/>
        </p:nvSpPr>
        <p:spPr>
          <a:xfrm>
            <a:off x="8820150" y="2019300"/>
            <a:ext cx="2590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54535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 ENDPOINTS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820150" y="2457450"/>
            <a:ext cx="2590800" cy="495300"/>
          </a:xfrm>
          <a:prstGeom prst="roundRect">
            <a:avLst>
              <a:gd name="adj" fmla="val 15385"/>
            </a:avLst>
          </a:prstGeom>
          <a:solidFill>
            <a:srgbClr val="2A2622"/>
          </a:solidFill>
          <a:ln w="7620">
            <a:solidFill>
              <a:srgbClr val="FFB347">
                <a:alpha val="34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Text 33"/>
          <p:cNvSpPr/>
          <p:nvPr/>
        </p:nvSpPr>
        <p:spPr>
          <a:xfrm>
            <a:off x="8953500" y="2524125"/>
            <a:ext cx="23241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speaker / light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820150" y="3048000"/>
            <a:ext cx="2590800" cy="495300"/>
          </a:xfrm>
          <a:prstGeom prst="roundRect">
            <a:avLst>
              <a:gd name="adj" fmla="val 15385"/>
            </a:avLst>
          </a:prstGeom>
          <a:solidFill>
            <a:srgbClr val="2A2622"/>
          </a:solidFill>
          <a:ln w="7620">
            <a:solidFill>
              <a:srgbClr val="FFB347">
                <a:alpha val="34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Text 35"/>
          <p:cNvSpPr/>
          <p:nvPr/>
        </p:nvSpPr>
        <p:spPr>
          <a:xfrm>
            <a:off x="8953500" y="3114675"/>
            <a:ext cx="23241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Encrypted local event log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820150" y="3638550"/>
            <a:ext cx="2590800" cy="495300"/>
          </a:xfrm>
          <a:prstGeom prst="roundRect">
            <a:avLst>
              <a:gd name="adj" fmla="val 15385"/>
            </a:avLst>
          </a:prstGeom>
          <a:solidFill>
            <a:srgbClr val="2A2622"/>
          </a:solidFill>
          <a:ln w="7620">
            <a:solidFill>
              <a:srgbClr val="FFB347">
                <a:alpha val="34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Text 37"/>
          <p:cNvSpPr/>
          <p:nvPr/>
        </p:nvSpPr>
        <p:spPr>
          <a:xfrm>
            <a:off x="8953500" y="3705225"/>
            <a:ext cx="23241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Existing caregiver app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820150" y="4229100"/>
            <a:ext cx="2590800" cy="495300"/>
          </a:xfrm>
          <a:prstGeom prst="roundRect">
            <a:avLst>
              <a:gd name="adj" fmla="val 15385"/>
            </a:avLst>
          </a:prstGeom>
          <a:solidFill>
            <a:srgbClr val="2A2622"/>
          </a:solidFill>
          <a:ln w="7620">
            <a:solidFill>
              <a:srgbClr val="FFB347">
                <a:alpha val="34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Text 39"/>
          <p:cNvSpPr/>
          <p:nvPr/>
        </p:nvSpPr>
        <p:spPr>
          <a:xfrm>
            <a:off x="8953500" y="4295775"/>
            <a:ext cx="23241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Nurse station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638550" y="3200400"/>
            <a:ext cx="419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47" dirty="0">
                <a:solidFill>
                  <a:srgbClr val="B7FF35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→</a:t>
            </a:r>
            <a:endParaRPr lang="en-US" sz="1747" dirty="0"/>
          </a:p>
        </p:txBody>
      </p:sp>
      <p:sp>
        <p:nvSpPr>
          <p:cNvPr id="43" name="Text 41"/>
          <p:cNvSpPr/>
          <p:nvPr/>
        </p:nvSpPr>
        <p:spPr>
          <a:xfrm>
            <a:off x="8134350" y="3200400"/>
            <a:ext cx="419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47" dirty="0">
                <a:solidFill>
                  <a:srgbClr val="B7FF35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→</a:t>
            </a:r>
            <a:endParaRPr lang="en-US" sz="1747" dirty="0"/>
          </a:p>
        </p:txBody>
      </p:sp>
      <p:sp>
        <p:nvSpPr>
          <p:cNvPr id="44" name="Shape 42"/>
          <p:cNvSpPr/>
          <p:nvPr/>
        </p:nvSpPr>
        <p:spPr>
          <a:xfrm>
            <a:off x="2171700" y="5753100"/>
            <a:ext cx="7848600" cy="495300"/>
          </a:xfrm>
          <a:prstGeom prst="roundRect">
            <a:avLst>
              <a:gd name="adj" fmla="val 46154"/>
            </a:avLst>
          </a:prstGeom>
          <a:solidFill>
            <a:srgbClr val="2A3522"/>
          </a:solidFill>
          <a:ln w="10160">
            <a:solidFill>
              <a:srgbClr val="B7FF35">
                <a:alpha val="82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Text 43"/>
          <p:cNvSpPr/>
          <p:nvPr/>
        </p:nvSpPr>
        <p:spPr>
          <a:xfrm>
            <a:off x="2381250" y="5895975"/>
            <a:ext cx="7429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7FF35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NETWORK OPTIONAL FOR CORE SAFETY LOGIC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10953750" y="6496050"/>
            <a:ext cx="685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9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/ 20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2450" y="266700"/>
            <a:ext cx="4095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30" dirty="0">
                <a:solidFill>
                  <a:srgbClr val="20C8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AUDITABLE LOCAL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52450" y="476250"/>
            <a:ext cx="10382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83" b="1" dirty="0">
                <a:solidFill>
                  <a:srgbClr val="F4F6F3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SOFTWARE ARCHITECTURE — EVENT, NOT SURVEILLANCE</a:t>
            </a:r>
            <a:endParaRPr lang="en-US" sz="2683" dirty="0"/>
          </a:p>
        </p:txBody>
      </p:sp>
      <p:sp>
        <p:nvSpPr>
          <p:cNvPr id="4" name="Shape 2"/>
          <p:cNvSpPr/>
          <p:nvPr/>
        </p:nvSpPr>
        <p:spPr>
          <a:xfrm>
            <a:off x="457200" y="1390650"/>
            <a:ext cx="4762500" cy="3409950"/>
          </a:xfrm>
          <a:prstGeom prst="roundRect">
            <a:avLst>
              <a:gd name="adj" fmla="val 5028"/>
            </a:avLst>
          </a:prstGeom>
          <a:solidFill>
            <a:srgbClr val="182428"/>
          </a:solidFill>
          <a:ln w="12700">
            <a:solidFill>
              <a:srgbClr val="20C8B6">
                <a:alpha val="58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66750" y="1543050"/>
            <a:ext cx="3238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C8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TRUST BOUNDARY 1 · RAW ZONE DATA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48250" y="1390650"/>
            <a:ext cx="6686550" cy="3409950"/>
          </a:xfrm>
          <a:prstGeom prst="roundRect">
            <a:avLst>
              <a:gd name="adj" fmla="val 5028"/>
            </a:avLst>
          </a:prstGeom>
          <a:solidFill>
            <a:srgbClr val="1D2320"/>
          </a:solidFill>
          <a:ln w="12700">
            <a:solidFill>
              <a:srgbClr val="B7FF35">
                <a:alpha val="44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5257800" y="1543050"/>
            <a:ext cx="4362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FF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TRUST BOUNDARY 2 · APPROVED EVENT METADATA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247775" y="3000375"/>
            <a:ext cx="9601200" cy="38100"/>
          </a:xfrm>
          <a:prstGeom prst="rect">
            <a:avLst/>
          </a:prstGeom>
          <a:solidFill>
            <a:srgbClr val="B7FF35"/>
          </a:solidFill>
          <a:ln w="12700">
            <a:solidFill>
              <a:srgbClr val="B7FF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533400" y="2019300"/>
            <a:ext cx="1428750" cy="1009650"/>
          </a:xfrm>
          <a:prstGeom prst="roundRect">
            <a:avLst>
              <a:gd name="adj" fmla="val 11321"/>
            </a:avLst>
          </a:prstGeom>
          <a:solidFill>
            <a:srgbClr val="F5FDFC"/>
          </a:solidFill>
          <a:ln w="12700">
            <a:solidFill>
              <a:srgbClr val="D2F4F0">
                <a:alpha val="50000"/>
              </a:srgbClr>
            </a:solidFill>
            <a:prstDash val="solid"/>
          </a:ln>
          <a:effectLst>
            <a:outerShdw blurRad="152400" dist="38100" dir="2700000" algn="bl" rotWithShape="0">
              <a:srgbClr val="111827">
                <a:alpha val="34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666750" y="2190750"/>
            <a:ext cx="11620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0C8B6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SENSOR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0C8B6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ADAPTERS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8650" y="2743200"/>
            <a:ext cx="1238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15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runtime.py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162050" y="2924175"/>
            <a:ext cx="171450" cy="171450"/>
          </a:xfrm>
          <a:prstGeom prst="ellipse">
            <a:avLst/>
          </a:prstGeom>
          <a:solidFill>
            <a:srgbClr val="20C8B6"/>
          </a:solidFill>
          <a:ln w="12700">
            <a:solidFill>
              <a:srgbClr val="08090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1962150" y="2886075"/>
            <a:ext cx="171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7FF35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133600" y="3238500"/>
            <a:ext cx="1428750" cy="1009650"/>
          </a:xfrm>
          <a:prstGeom prst="roundRect">
            <a:avLst>
              <a:gd name="adj" fmla="val 11321"/>
            </a:avLst>
          </a:prstGeom>
          <a:solidFill>
            <a:srgbClr val="F5FDFC"/>
          </a:solidFill>
          <a:ln w="12700">
            <a:solidFill>
              <a:srgbClr val="D2F4F0">
                <a:alpha val="50000"/>
              </a:srgbClr>
            </a:solidFill>
            <a:prstDash val="solid"/>
          </a:ln>
          <a:effectLst>
            <a:outerShdw blurRad="152400" dist="38100" dir="2700000" algn="bl" rotWithShape="0">
              <a:srgbClr val="111827">
                <a:alpha val="34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2266950" y="3409950"/>
            <a:ext cx="11620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0C8B6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LOCAL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0C8B6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PREPROCESS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228850" y="3962400"/>
            <a:ext cx="1238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15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detectors.py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762250" y="2924175"/>
            <a:ext cx="171450" cy="171450"/>
          </a:xfrm>
          <a:prstGeom prst="ellipse">
            <a:avLst/>
          </a:prstGeom>
          <a:solidFill>
            <a:srgbClr val="20C8B6"/>
          </a:solidFill>
          <a:ln w="12700">
            <a:solidFill>
              <a:srgbClr val="08090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3562350" y="2886075"/>
            <a:ext cx="171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7FF35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733800" y="2019300"/>
            <a:ext cx="1428750" cy="1009650"/>
          </a:xfrm>
          <a:prstGeom prst="roundRect">
            <a:avLst>
              <a:gd name="adj" fmla="val 11321"/>
            </a:avLst>
          </a:prstGeom>
          <a:solidFill>
            <a:srgbClr val="FCFFF6"/>
          </a:solidFill>
          <a:ln w="12700">
            <a:solidFill>
              <a:srgbClr val="F1FFD7">
                <a:alpha val="50000"/>
              </a:srgbClr>
            </a:solidFill>
            <a:prstDash val="solid"/>
          </a:ln>
          <a:effectLst>
            <a:outerShdw blurRad="152400" dist="38100" dir="2700000" algn="bl" rotWithShape="0">
              <a:srgbClr val="111827">
                <a:alpha val="34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3867150" y="2190750"/>
            <a:ext cx="11620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7FF35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HAILORT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B7FF35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BOUNDARY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29050" y="2743200"/>
            <a:ext cx="1238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354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hailo_adapter.py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362450" y="2924175"/>
            <a:ext cx="171450" cy="171450"/>
          </a:xfrm>
          <a:prstGeom prst="ellipse">
            <a:avLst/>
          </a:prstGeom>
          <a:solidFill>
            <a:srgbClr val="B7FF35"/>
          </a:solidFill>
          <a:ln w="12700">
            <a:solidFill>
              <a:srgbClr val="08090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5162550" y="2886075"/>
            <a:ext cx="171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7FF35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334000" y="3238500"/>
            <a:ext cx="1428750" cy="1009650"/>
          </a:xfrm>
          <a:prstGeom prst="roundRect">
            <a:avLst>
              <a:gd name="adj" fmla="val 11321"/>
            </a:avLst>
          </a:prstGeom>
          <a:solidFill>
            <a:srgbClr val="FCFFF6"/>
          </a:solidFill>
          <a:ln w="12700">
            <a:solidFill>
              <a:srgbClr val="F1FFD7">
                <a:alpha val="50000"/>
              </a:srgbClr>
            </a:solidFill>
            <a:prstDash val="solid"/>
          </a:ln>
          <a:effectLst>
            <a:outerShdw blurRad="152400" dist="38100" dir="2700000" algn="bl" rotWithShape="0">
              <a:srgbClr val="111827">
                <a:alpha val="34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5467350" y="3409950"/>
            <a:ext cx="11620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7FF35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TEMPORAL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B7FF35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FUSION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29250" y="3962400"/>
            <a:ext cx="1238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354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fusion.py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962650" y="2924175"/>
            <a:ext cx="171450" cy="171450"/>
          </a:xfrm>
          <a:prstGeom prst="ellipse">
            <a:avLst/>
          </a:prstGeom>
          <a:solidFill>
            <a:srgbClr val="B7FF35"/>
          </a:solidFill>
          <a:ln w="12700">
            <a:solidFill>
              <a:srgbClr val="08090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6762750" y="2886075"/>
            <a:ext cx="171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7FF35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934200" y="2019300"/>
            <a:ext cx="1428750" cy="1009650"/>
          </a:xfrm>
          <a:prstGeom prst="roundRect">
            <a:avLst>
              <a:gd name="adj" fmla="val 11321"/>
            </a:avLst>
          </a:prstGeom>
          <a:solidFill>
            <a:srgbClr val="F5FDFC"/>
          </a:solidFill>
          <a:ln w="12700">
            <a:solidFill>
              <a:srgbClr val="D2F4F0">
                <a:alpha val="50000"/>
              </a:srgbClr>
            </a:solidFill>
            <a:prstDash val="solid"/>
          </a:ln>
          <a:effectLst>
            <a:outerShdw blurRad="152400" dist="38100" dir="2700000" algn="bl" rotWithShape="0">
              <a:srgbClr val="111827">
                <a:alpha val="34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7067550" y="2190750"/>
            <a:ext cx="11620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0C8B6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PRIVACY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0C8B6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GUARD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029450" y="2743200"/>
            <a:ext cx="1238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1535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privacy.py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562850" y="2924175"/>
            <a:ext cx="171450" cy="171450"/>
          </a:xfrm>
          <a:prstGeom prst="ellipse">
            <a:avLst/>
          </a:prstGeom>
          <a:solidFill>
            <a:srgbClr val="20C8B6"/>
          </a:solidFill>
          <a:ln w="12700">
            <a:solidFill>
              <a:srgbClr val="08090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1"/>
          <p:cNvSpPr/>
          <p:nvPr/>
        </p:nvSpPr>
        <p:spPr>
          <a:xfrm>
            <a:off x="8362950" y="2886075"/>
            <a:ext cx="171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7FF35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→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534400" y="3238500"/>
            <a:ext cx="1428750" cy="1009650"/>
          </a:xfrm>
          <a:prstGeom prst="roundRect">
            <a:avLst>
              <a:gd name="adj" fmla="val 11321"/>
            </a:avLst>
          </a:prstGeom>
          <a:solidFill>
            <a:srgbClr val="FFFCF7"/>
          </a:solidFill>
          <a:ln w="12700">
            <a:solidFill>
              <a:srgbClr val="FFF0DA">
                <a:alpha val="50000"/>
              </a:srgbClr>
            </a:solidFill>
            <a:prstDash val="solid"/>
          </a:ln>
          <a:effectLst>
            <a:outerShdw blurRad="152400" dist="38100" dir="2700000" algn="bl" rotWithShape="0">
              <a:srgbClr val="111827">
                <a:alpha val="34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5" name="Text 33"/>
          <p:cNvSpPr/>
          <p:nvPr/>
        </p:nvSpPr>
        <p:spPr>
          <a:xfrm>
            <a:off x="8667750" y="3409950"/>
            <a:ext cx="11620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B347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ESCALATION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B347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ROUTER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629650" y="3962400"/>
            <a:ext cx="1238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453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policy.py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9163050" y="2924175"/>
            <a:ext cx="171450" cy="17145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08090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Text 36"/>
          <p:cNvSpPr/>
          <p:nvPr/>
        </p:nvSpPr>
        <p:spPr>
          <a:xfrm>
            <a:off x="9963150" y="2886075"/>
            <a:ext cx="171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7FF35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→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10134600" y="2019300"/>
            <a:ext cx="1428750" cy="1009650"/>
          </a:xfrm>
          <a:prstGeom prst="roundRect">
            <a:avLst>
              <a:gd name="adj" fmla="val 11321"/>
            </a:avLst>
          </a:prstGeom>
          <a:solidFill>
            <a:srgbClr val="FCFFF6"/>
          </a:solidFill>
          <a:ln w="12700">
            <a:solidFill>
              <a:srgbClr val="F1FFD7">
                <a:alpha val="50000"/>
              </a:srgbClr>
            </a:solidFill>
            <a:prstDash val="solid"/>
          </a:ln>
          <a:effectLst>
            <a:outerShdw blurRad="152400" dist="38100" dir="2700000" algn="bl" rotWithShape="0">
              <a:srgbClr val="111827">
                <a:alpha val="34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0" name="Text 38"/>
          <p:cNvSpPr/>
          <p:nvPr/>
        </p:nvSpPr>
        <p:spPr>
          <a:xfrm>
            <a:off x="10267950" y="2190750"/>
            <a:ext cx="11620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7FF35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LOCAL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B7FF35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AUDIT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0229850" y="2743200"/>
            <a:ext cx="1238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354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runtime.py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0763250" y="2924175"/>
            <a:ext cx="171450" cy="171450"/>
          </a:xfrm>
          <a:prstGeom prst="ellipse">
            <a:avLst/>
          </a:prstGeom>
          <a:solidFill>
            <a:srgbClr val="B7FF35"/>
          </a:solidFill>
          <a:ln w="12700">
            <a:solidFill>
              <a:srgbClr val="08090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Shape 41"/>
          <p:cNvSpPr/>
          <p:nvPr/>
        </p:nvSpPr>
        <p:spPr>
          <a:xfrm>
            <a:off x="552450" y="5048250"/>
            <a:ext cx="11087100" cy="1047750"/>
          </a:xfrm>
          <a:prstGeom prst="roundRect">
            <a:avLst>
              <a:gd name="adj" fmla="val 12727"/>
            </a:avLst>
          </a:prstGeom>
          <a:solidFill>
            <a:srgbClr val="FFFCF9"/>
          </a:solidFill>
          <a:ln w="12700">
            <a:solidFill>
              <a:srgbClr val="FFF1DE">
                <a:alpha val="48000"/>
              </a:srgbClr>
            </a:solidFill>
            <a:prstDash val="solid"/>
          </a:ln>
          <a:effectLst>
            <a:outerShdw blurRad="152400" dist="38100" dir="2700000" algn="bl" rotWithShape="0">
              <a:srgbClr val="111827">
                <a:alpha val="34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4" name="Text 42"/>
          <p:cNvSpPr/>
          <p:nvPr/>
        </p:nvSpPr>
        <p:spPr>
          <a:xfrm>
            <a:off x="800100" y="5276850"/>
            <a:ext cx="2000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8" b="1" dirty="0">
                <a:solidFill>
                  <a:srgbClr val="FFB347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OFFLINE QUEUE</a:t>
            </a:r>
            <a:endParaRPr lang="en-US" sz="1498" dirty="0"/>
          </a:p>
        </p:txBody>
      </p:sp>
      <p:sp>
        <p:nvSpPr>
          <p:cNvPr id="45" name="Text 43"/>
          <p:cNvSpPr/>
          <p:nvPr/>
        </p:nvSpPr>
        <p:spPr>
          <a:xfrm>
            <a:off x="2990850" y="5219700"/>
            <a:ext cx="8286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rules continue locally. After reconnection, only allowlisted event metadata is synchronized.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2990850" y="5695950"/>
            <a:ext cx="8286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B7FF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SENSE → INFER → VERIFY → ACT → AUDIT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0953750" y="6496050"/>
            <a:ext cx="685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9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/ 20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2450" y="266700"/>
            <a:ext cx="4762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20C8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EDGE ML WORK PACKAGES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52450" y="476250"/>
            <a:ext cx="98107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70" b="1" dirty="0">
                <a:solidFill>
                  <a:srgbClr val="F4F6F3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MODEL &amp; TOOLCHAIN PLAN</a:t>
            </a:r>
            <a:endParaRPr lang="en-US" sz="2870" dirty="0"/>
          </a:p>
        </p:txBody>
      </p:sp>
      <p:sp>
        <p:nvSpPr>
          <p:cNvPr id="4" name="Text 2"/>
          <p:cNvSpPr/>
          <p:nvPr/>
        </p:nvSpPr>
        <p:spPr>
          <a:xfrm>
            <a:off x="10953750" y="6496050"/>
            <a:ext cx="685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9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/ 20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52450" y="1333500"/>
            <a:ext cx="2628900" cy="3657600"/>
          </a:xfrm>
          <a:prstGeom prst="roundRect">
            <a:avLst>
              <a:gd name="adj" fmla="val 5797"/>
            </a:avLst>
          </a:prstGeom>
          <a:solidFill>
            <a:srgbClr val="FCFFF6"/>
          </a:solidFill>
          <a:ln w="12700">
            <a:solidFill>
              <a:srgbClr val="F2FFDB">
                <a:alpha val="50000"/>
              </a:srgbClr>
            </a:solidFill>
            <a:prstDash val="solid"/>
          </a:ln>
          <a:effectLst>
            <a:outerShdw blurRad="152400" dist="38100" dir="2700000" algn="bl" rotWithShape="0">
              <a:srgbClr val="111827">
                <a:alpha val="34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781050" y="1581150"/>
            <a:ext cx="666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46" b="1" dirty="0">
                <a:solidFill>
                  <a:srgbClr val="B7FF35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01</a:t>
            </a:r>
            <a:endParaRPr lang="en-US" sz="2246" dirty="0"/>
          </a:p>
        </p:txBody>
      </p:sp>
      <p:sp>
        <p:nvSpPr>
          <p:cNvPr id="7" name="Text 5"/>
          <p:cNvSpPr/>
          <p:nvPr/>
        </p:nvSpPr>
        <p:spPr>
          <a:xfrm>
            <a:off x="781050" y="2171700"/>
            <a:ext cx="21717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10" b="1" dirty="0">
                <a:solidFill>
                  <a:srgbClr val="111111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MODEL</a:t>
            </a:r>
            <a:endParaRPr lang="en-US" sz="1810" dirty="0"/>
          </a:p>
        </p:txBody>
      </p:sp>
      <p:sp>
        <p:nvSpPr>
          <p:cNvPr id="8" name="Text 6"/>
          <p:cNvSpPr/>
          <p:nvPr/>
        </p:nvSpPr>
        <p:spPr>
          <a:xfrm>
            <a:off x="781050" y="2705100"/>
            <a:ext cx="2171700" cy="146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5354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 detection or pose estimation + temporal fall confirmation. Private zones use radar or thermal features.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81050" y="4552950"/>
            <a:ext cx="2171700" cy="38100"/>
          </a:xfrm>
          <a:prstGeom prst="rect">
            <a:avLst/>
          </a:prstGeom>
          <a:solidFill>
            <a:srgbClr val="B7FF35"/>
          </a:solidFill>
          <a:ln w="12700">
            <a:solidFill>
              <a:srgbClr val="B7FF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3371850" y="1333500"/>
            <a:ext cx="2628900" cy="3657600"/>
          </a:xfrm>
          <a:prstGeom prst="roundRect">
            <a:avLst>
              <a:gd name="adj" fmla="val 5797"/>
            </a:avLst>
          </a:prstGeom>
          <a:solidFill>
            <a:srgbClr val="F5FDFC"/>
          </a:solidFill>
          <a:ln w="12700">
            <a:solidFill>
              <a:srgbClr val="D7F5F2">
                <a:alpha val="50000"/>
              </a:srgbClr>
            </a:solidFill>
            <a:prstDash val="solid"/>
          </a:ln>
          <a:effectLst>
            <a:outerShdw blurRad="152400" dist="38100" dir="2700000" algn="bl" rotWithShape="0">
              <a:srgbClr val="111827">
                <a:alpha val="34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3600450" y="1581150"/>
            <a:ext cx="666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46" b="1" dirty="0">
                <a:solidFill>
                  <a:srgbClr val="20C8B6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02</a:t>
            </a:r>
            <a:endParaRPr lang="en-US" sz="2246" dirty="0"/>
          </a:p>
        </p:txBody>
      </p:sp>
      <p:sp>
        <p:nvSpPr>
          <p:cNvPr id="12" name="Text 10"/>
          <p:cNvSpPr/>
          <p:nvPr/>
        </p:nvSpPr>
        <p:spPr>
          <a:xfrm>
            <a:off x="3600450" y="2171700"/>
            <a:ext cx="21717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10" b="1" dirty="0">
                <a:solidFill>
                  <a:srgbClr val="111111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COMPILE</a:t>
            </a:r>
            <a:endParaRPr lang="en-US" sz="1810" dirty="0"/>
          </a:p>
        </p:txBody>
      </p:sp>
      <p:sp>
        <p:nvSpPr>
          <p:cNvPr id="13" name="Text 11"/>
          <p:cNvSpPr/>
          <p:nvPr/>
        </p:nvSpPr>
        <p:spPr>
          <a:xfrm>
            <a:off x="3600450" y="2705100"/>
            <a:ext cx="2171700" cy="146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51535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ONNX → representative calibration → Hailo Dataflow Compiler → HailoRT.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00450" y="4552950"/>
            <a:ext cx="2171700" cy="38100"/>
          </a:xfrm>
          <a:prstGeom prst="rect">
            <a:avLst/>
          </a:prstGeom>
          <a:solidFill>
            <a:srgbClr val="20C8B6"/>
          </a:solidFill>
          <a:ln w="12700">
            <a:solidFill>
              <a:srgbClr val="20C8B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6191250" y="1333500"/>
            <a:ext cx="2628900" cy="3657600"/>
          </a:xfrm>
          <a:prstGeom prst="roundRect">
            <a:avLst>
              <a:gd name="adj" fmla="val 5797"/>
            </a:avLst>
          </a:prstGeom>
          <a:solidFill>
            <a:srgbClr val="FFFCF7"/>
          </a:solidFill>
          <a:ln w="12700">
            <a:solidFill>
              <a:srgbClr val="FFF1DE">
                <a:alpha val="50000"/>
              </a:srgbClr>
            </a:solidFill>
            <a:prstDash val="solid"/>
          </a:ln>
          <a:effectLst>
            <a:outerShdw blurRad="152400" dist="38100" dir="2700000" algn="bl" rotWithShape="0">
              <a:srgbClr val="111827">
                <a:alpha val="34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6419850" y="1581150"/>
            <a:ext cx="666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46" b="1" dirty="0">
                <a:solidFill>
                  <a:srgbClr val="FFB347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03</a:t>
            </a:r>
            <a:endParaRPr lang="en-US" sz="2246" dirty="0"/>
          </a:p>
        </p:txBody>
      </p:sp>
      <p:sp>
        <p:nvSpPr>
          <p:cNvPr id="17" name="Text 15"/>
          <p:cNvSpPr/>
          <p:nvPr/>
        </p:nvSpPr>
        <p:spPr>
          <a:xfrm>
            <a:off x="6419850" y="2171700"/>
            <a:ext cx="21717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10" b="1" dirty="0">
                <a:solidFill>
                  <a:srgbClr val="111111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OPTIMIZE</a:t>
            </a:r>
            <a:endParaRPr lang="en-US" sz="1810" dirty="0"/>
          </a:p>
        </p:txBody>
      </p:sp>
      <p:sp>
        <p:nvSpPr>
          <p:cNvPr id="18" name="Text 16"/>
          <p:cNvSpPr/>
          <p:nvPr/>
        </p:nvSpPr>
        <p:spPr>
          <a:xfrm>
            <a:off x="6419850" y="2705100"/>
            <a:ext cx="2171700" cy="146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5453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Supported INT8 / INT4 quantization, operator compatibility, memory and temperature checks.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19850" y="4552950"/>
            <a:ext cx="2171700" cy="38100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9010650" y="1333500"/>
            <a:ext cx="2628900" cy="3657600"/>
          </a:xfrm>
          <a:prstGeom prst="roundRect">
            <a:avLst>
              <a:gd name="adj" fmla="val 5797"/>
            </a:avLst>
          </a:prstGeom>
          <a:solidFill>
            <a:srgbClr val="FCFFF6"/>
          </a:solidFill>
          <a:ln w="12700">
            <a:solidFill>
              <a:srgbClr val="F2FFDB">
                <a:alpha val="50000"/>
              </a:srgbClr>
            </a:solidFill>
            <a:prstDash val="solid"/>
          </a:ln>
          <a:effectLst>
            <a:outerShdw blurRad="152400" dist="38100" dir="2700000" algn="bl" rotWithShape="0">
              <a:srgbClr val="111827">
                <a:alpha val="34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9239250" y="1581150"/>
            <a:ext cx="666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46" b="1" dirty="0">
                <a:solidFill>
                  <a:srgbClr val="B7FF35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04</a:t>
            </a:r>
            <a:endParaRPr lang="en-US" sz="2246" dirty="0"/>
          </a:p>
        </p:txBody>
      </p:sp>
      <p:sp>
        <p:nvSpPr>
          <p:cNvPr id="22" name="Text 20"/>
          <p:cNvSpPr/>
          <p:nvPr/>
        </p:nvSpPr>
        <p:spPr>
          <a:xfrm>
            <a:off x="9239250" y="2171700"/>
            <a:ext cx="21717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10" b="1" dirty="0">
                <a:solidFill>
                  <a:srgbClr val="111111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VALIDATE</a:t>
            </a:r>
            <a:endParaRPr lang="en-US" sz="1810" dirty="0"/>
          </a:p>
        </p:txBody>
      </p:sp>
      <p:sp>
        <p:nvSpPr>
          <p:cNvPr id="23" name="Text 21"/>
          <p:cNvSpPr/>
          <p:nvPr/>
        </p:nvSpPr>
        <p:spPr>
          <a:xfrm>
            <a:off x="9239250" y="2705100"/>
            <a:ext cx="2171700" cy="1466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5354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Subject-disjoint scenarios, hard negatives, latency percentiles and false alerts per room-day.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239250" y="4552950"/>
            <a:ext cx="2171700" cy="38100"/>
          </a:xfrm>
          <a:prstGeom prst="rect">
            <a:avLst/>
          </a:prstGeom>
          <a:solidFill>
            <a:srgbClr val="B7FF35"/>
          </a:solidFill>
          <a:ln w="12700">
            <a:solidFill>
              <a:srgbClr val="B7FF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552450" y="5219700"/>
            <a:ext cx="11087100" cy="704850"/>
          </a:xfrm>
          <a:prstGeom prst="roundRect">
            <a:avLst>
              <a:gd name="adj" fmla="val 18919"/>
            </a:avLst>
          </a:prstGeom>
          <a:solidFill>
            <a:srgbClr val="171A1F"/>
          </a:solidFill>
          <a:ln w="12700">
            <a:solidFill>
              <a:srgbClr val="20C8B6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800100" y="5448300"/>
            <a:ext cx="1390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F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ONNX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228850" y="5429250"/>
            <a:ext cx="342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0C8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686050" y="5448300"/>
            <a:ext cx="1390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F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CALIBRATE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114800" y="5429250"/>
            <a:ext cx="342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0C8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610100" y="5448300"/>
            <a:ext cx="209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F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DATAFLOW COMPILER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743700" y="5429250"/>
            <a:ext cx="342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0C8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524750" y="5448300"/>
            <a:ext cx="1390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F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HAILORT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953500" y="5429250"/>
            <a:ext cx="342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0C8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525000" y="5448300"/>
            <a:ext cx="1390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7FF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266950" y="6096000"/>
            <a:ext cx="7658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80" dirty="0">
                <a:solidFill>
                  <a:srgbClr val="FFB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 NUMBERS REMAIN TARGETS UNTIL MEASURED ON UGEN300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2450" y="266700"/>
            <a:ext cx="400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30" dirty="0">
                <a:solidFill>
                  <a:srgbClr val="20C8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TRUST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52450" y="476250"/>
            <a:ext cx="9334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8" b="1" dirty="0">
                <a:solidFill>
                  <a:srgbClr val="F4F6F3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PRIVACY, SAFETY &amp; GOVERNANCE</a:t>
            </a:r>
            <a:endParaRPr lang="en-US" sz="2808" dirty="0"/>
          </a:p>
        </p:txBody>
      </p:sp>
      <p:sp>
        <p:nvSpPr>
          <p:cNvPr id="4" name="Shape 2"/>
          <p:cNvSpPr/>
          <p:nvPr/>
        </p:nvSpPr>
        <p:spPr>
          <a:xfrm>
            <a:off x="552450" y="1295400"/>
            <a:ext cx="3505200" cy="3714750"/>
          </a:xfrm>
          <a:prstGeom prst="roundRect">
            <a:avLst>
              <a:gd name="adj" fmla="val 4891"/>
            </a:avLst>
          </a:prstGeom>
          <a:solidFill>
            <a:srgbClr val="F5FDFC"/>
          </a:solidFill>
          <a:ln w="12700">
            <a:solidFill>
              <a:srgbClr val="D2F4F0">
                <a:alpha val="52000"/>
              </a:srgbClr>
            </a:solidFill>
            <a:prstDash val="solid"/>
          </a:ln>
          <a:effectLst>
            <a:outerShdw blurRad="152400" dist="38100" dir="2700000" algn="bl" rotWithShape="0">
              <a:srgbClr val="111827">
                <a:alpha val="34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1905000" y="1562100"/>
            <a:ext cx="800100" cy="800100"/>
          </a:xfrm>
          <a:prstGeom prst="ellipse">
            <a:avLst/>
          </a:prstGeom>
          <a:solidFill>
            <a:srgbClr val="1A4E4C"/>
          </a:solidFill>
          <a:ln w="25400">
            <a:solidFill>
              <a:srgbClr val="20C8B6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1905000" y="1790700"/>
            <a:ext cx="8001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20C8B6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01</a:t>
            </a:r>
            <a:endParaRPr lang="en-US" sz="1560" dirty="0"/>
          </a:p>
        </p:txBody>
      </p:sp>
      <p:sp>
        <p:nvSpPr>
          <p:cNvPr id="7" name="Text 5"/>
          <p:cNvSpPr/>
          <p:nvPr/>
        </p:nvSpPr>
        <p:spPr>
          <a:xfrm>
            <a:off x="781050" y="2533650"/>
            <a:ext cx="304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34" b="1" dirty="0">
                <a:solidFill>
                  <a:srgbClr val="111111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DATA</a:t>
            </a:r>
            <a:endParaRPr lang="en-US" sz="1934" dirty="0"/>
          </a:p>
        </p:txBody>
      </p:sp>
      <p:sp>
        <p:nvSpPr>
          <p:cNvPr id="8" name="Text 6"/>
          <p:cNvSpPr/>
          <p:nvPr/>
        </p:nvSpPr>
        <p:spPr>
          <a:xfrm>
            <a:off x="781050" y="2914650"/>
            <a:ext cx="304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40" dirty="0">
                <a:solidFill>
                  <a:srgbClr val="20C8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MINIMIZE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76300" y="3324225"/>
            <a:ext cx="114300" cy="114300"/>
          </a:xfrm>
          <a:prstGeom prst="ellipse">
            <a:avLst/>
          </a:prstGeom>
          <a:solidFill>
            <a:srgbClr val="20C8B6"/>
          </a:solidFill>
          <a:ln w="12700">
            <a:solidFill>
              <a:srgbClr val="20C8B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1104900" y="3276600"/>
            <a:ext cx="2647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Raw media off by default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76300" y="3724275"/>
            <a:ext cx="114300" cy="114300"/>
          </a:xfrm>
          <a:prstGeom prst="ellipse">
            <a:avLst/>
          </a:prstGeom>
          <a:solidFill>
            <a:srgbClr val="20C8B6"/>
          </a:solidFill>
          <a:ln w="12700">
            <a:solidFill>
              <a:srgbClr val="20C8B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1104900" y="3676650"/>
            <a:ext cx="2647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Volatile local buffers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76300" y="4124325"/>
            <a:ext cx="114300" cy="114300"/>
          </a:xfrm>
          <a:prstGeom prst="ellipse">
            <a:avLst/>
          </a:prstGeom>
          <a:solidFill>
            <a:srgbClr val="20C8B6"/>
          </a:solidFill>
          <a:ln w="12700">
            <a:solidFill>
              <a:srgbClr val="20C8B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1104900" y="4076700"/>
            <a:ext cx="2647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Structured-event egress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76300" y="4524375"/>
            <a:ext cx="114300" cy="114300"/>
          </a:xfrm>
          <a:prstGeom prst="ellipse">
            <a:avLst/>
          </a:prstGeom>
          <a:solidFill>
            <a:srgbClr val="20C8B6"/>
          </a:solidFill>
          <a:ln w="12700">
            <a:solidFill>
              <a:srgbClr val="20C8B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1104900" y="4476750"/>
            <a:ext cx="2647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Encrypted local storage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43400" y="1295400"/>
            <a:ext cx="3505200" cy="3714750"/>
          </a:xfrm>
          <a:prstGeom prst="roundRect">
            <a:avLst>
              <a:gd name="adj" fmla="val 4891"/>
            </a:avLst>
          </a:prstGeom>
          <a:solidFill>
            <a:srgbClr val="FFFCF7"/>
          </a:solidFill>
          <a:ln w="12700">
            <a:solidFill>
              <a:srgbClr val="FFF0DA">
                <a:alpha val="52000"/>
              </a:srgbClr>
            </a:solidFill>
            <a:prstDash val="solid"/>
          </a:ln>
          <a:effectLst>
            <a:outerShdw blurRad="152400" dist="38100" dir="2700000" algn="bl" rotWithShape="0">
              <a:srgbClr val="111827">
                <a:alpha val="34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5695950" y="1562100"/>
            <a:ext cx="800100" cy="800100"/>
          </a:xfrm>
          <a:prstGeom prst="ellipse">
            <a:avLst/>
          </a:prstGeom>
          <a:solidFill>
            <a:srgbClr val="5D482B"/>
          </a:solidFill>
          <a:ln w="25400">
            <a:solidFill>
              <a:srgbClr val="FFB34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5695950" y="1790700"/>
            <a:ext cx="8001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B347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02</a:t>
            </a:r>
            <a:endParaRPr lang="en-US" sz="1560" dirty="0"/>
          </a:p>
        </p:txBody>
      </p:sp>
      <p:sp>
        <p:nvSpPr>
          <p:cNvPr id="20" name="Text 18"/>
          <p:cNvSpPr/>
          <p:nvPr/>
        </p:nvSpPr>
        <p:spPr>
          <a:xfrm>
            <a:off x="4572000" y="2533650"/>
            <a:ext cx="304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34" b="1" dirty="0">
                <a:solidFill>
                  <a:srgbClr val="111111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HUMAN</a:t>
            </a:r>
            <a:endParaRPr lang="en-US" sz="1934" dirty="0"/>
          </a:p>
        </p:txBody>
      </p:sp>
      <p:sp>
        <p:nvSpPr>
          <p:cNvPr id="21" name="Text 19"/>
          <p:cNvSpPr/>
          <p:nvPr/>
        </p:nvSpPr>
        <p:spPr>
          <a:xfrm>
            <a:off x="4572000" y="2914650"/>
            <a:ext cx="304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40" dirty="0">
                <a:solidFill>
                  <a:srgbClr val="FFB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AUTHORIZE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7250" y="3324225"/>
            <a:ext cx="114300" cy="11430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4895850" y="3276600"/>
            <a:ext cx="2647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Consent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67250" y="3724275"/>
            <a:ext cx="114300" cy="11430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4895850" y="3676650"/>
            <a:ext cx="2647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Visible disable control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67250" y="4124325"/>
            <a:ext cx="114300" cy="11430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4895850" y="4076700"/>
            <a:ext cx="2647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Caregiver verification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67250" y="4524375"/>
            <a:ext cx="114300" cy="11430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/>
          <p:nvPr/>
        </p:nvSpPr>
        <p:spPr>
          <a:xfrm>
            <a:off x="4895850" y="4476750"/>
            <a:ext cx="2647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Role-based access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134350" y="1295400"/>
            <a:ext cx="3505200" cy="3714750"/>
          </a:xfrm>
          <a:prstGeom prst="roundRect">
            <a:avLst>
              <a:gd name="adj" fmla="val 4891"/>
            </a:avLst>
          </a:prstGeom>
          <a:solidFill>
            <a:srgbClr val="FCFFF6"/>
          </a:solidFill>
          <a:ln w="12700">
            <a:solidFill>
              <a:srgbClr val="F1FFD7">
                <a:alpha val="52000"/>
              </a:srgbClr>
            </a:solidFill>
            <a:prstDash val="solid"/>
          </a:ln>
          <a:effectLst>
            <a:outerShdw blurRad="152400" dist="38100" dir="2700000" algn="bl" rotWithShape="0">
              <a:srgbClr val="111827">
                <a:alpha val="34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1" name="Shape 29"/>
          <p:cNvSpPr/>
          <p:nvPr/>
        </p:nvSpPr>
        <p:spPr>
          <a:xfrm>
            <a:off x="9486900" y="1562100"/>
            <a:ext cx="800100" cy="800100"/>
          </a:xfrm>
          <a:prstGeom prst="ellipse">
            <a:avLst/>
          </a:prstGeom>
          <a:solidFill>
            <a:srgbClr val="475F26"/>
          </a:solidFill>
          <a:ln w="25400">
            <a:solidFill>
              <a:srgbClr val="B7FF3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Text 30"/>
          <p:cNvSpPr/>
          <p:nvPr/>
        </p:nvSpPr>
        <p:spPr>
          <a:xfrm>
            <a:off x="9486900" y="1790700"/>
            <a:ext cx="8001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B7FF35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03</a:t>
            </a:r>
            <a:endParaRPr lang="en-US" sz="1560" dirty="0"/>
          </a:p>
        </p:txBody>
      </p:sp>
      <p:sp>
        <p:nvSpPr>
          <p:cNvPr id="33" name="Text 31"/>
          <p:cNvSpPr/>
          <p:nvPr/>
        </p:nvSpPr>
        <p:spPr>
          <a:xfrm>
            <a:off x="8362950" y="2533650"/>
            <a:ext cx="304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34" b="1" dirty="0">
                <a:solidFill>
                  <a:srgbClr val="111111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SYSTEM</a:t>
            </a:r>
            <a:endParaRPr lang="en-US" sz="1934" dirty="0"/>
          </a:p>
        </p:txBody>
      </p:sp>
      <p:sp>
        <p:nvSpPr>
          <p:cNvPr id="34" name="Text 32"/>
          <p:cNvSpPr/>
          <p:nvPr/>
        </p:nvSpPr>
        <p:spPr>
          <a:xfrm>
            <a:off x="8362950" y="2914650"/>
            <a:ext cx="3048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40" dirty="0">
                <a:solidFill>
                  <a:srgbClr val="B7FF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ENFORCE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458200" y="3324225"/>
            <a:ext cx="114300" cy="114300"/>
          </a:xfrm>
          <a:prstGeom prst="ellipse">
            <a:avLst/>
          </a:prstGeom>
          <a:solidFill>
            <a:srgbClr val="B7FF35"/>
          </a:solidFill>
          <a:ln w="12700">
            <a:solidFill>
              <a:srgbClr val="B7FF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Text 34"/>
          <p:cNvSpPr/>
          <p:nvPr/>
        </p:nvSpPr>
        <p:spPr>
          <a:xfrm>
            <a:off x="8686800" y="3276600"/>
            <a:ext cx="2647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Signed model / config updates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458200" y="3724275"/>
            <a:ext cx="114300" cy="114300"/>
          </a:xfrm>
          <a:prstGeom prst="ellipse">
            <a:avLst/>
          </a:prstGeom>
          <a:solidFill>
            <a:srgbClr val="B7FF35"/>
          </a:solidFill>
          <a:ln w="12700">
            <a:solidFill>
              <a:srgbClr val="B7FF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Text 36"/>
          <p:cNvSpPr/>
          <p:nvPr/>
        </p:nvSpPr>
        <p:spPr>
          <a:xfrm>
            <a:off x="8686800" y="3676650"/>
            <a:ext cx="2647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Outbound allowlist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458200" y="4124325"/>
            <a:ext cx="114300" cy="114300"/>
          </a:xfrm>
          <a:prstGeom prst="ellipse">
            <a:avLst/>
          </a:prstGeom>
          <a:solidFill>
            <a:srgbClr val="B7FF35"/>
          </a:solidFill>
          <a:ln w="12700">
            <a:solidFill>
              <a:srgbClr val="B7FF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Text 38"/>
          <p:cNvSpPr/>
          <p:nvPr/>
        </p:nvSpPr>
        <p:spPr>
          <a:xfrm>
            <a:off x="8686800" y="4076700"/>
            <a:ext cx="2647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trail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458200" y="4524375"/>
            <a:ext cx="114300" cy="114300"/>
          </a:xfrm>
          <a:prstGeom prst="ellipse">
            <a:avLst/>
          </a:prstGeom>
          <a:solidFill>
            <a:srgbClr val="B7FF35"/>
          </a:solidFill>
          <a:ln w="12700">
            <a:solidFill>
              <a:srgbClr val="B7FF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Text 40"/>
          <p:cNvSpPr/>
          <p:nvPr/>
        </p:nvSpPr>
        <p:spPr>
          <a:xfrm>
            <a:off x="8686800" y="4476750"/>
            <a:ext cx="2647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Offline fail-safe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981450" y="299085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5" dirty="0">
                <a:solidFill>
                  <a:srgbClr val="FFB347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→</a:t>
            </a:r>
            <a:endParaRPr lang="en-US" sz="1435" dirty="0"/>
          </a:p>
        </p:txBody>
      </p:sp>
      <p:sp>
        <p:nvSpPr>
          <p:cNvPr id="44" name="Text 42"/>
          <p:cNvSpPr/>
          <p:nvPr/>
        </p:nvSpPr>
        <p:spPr>
          <a:xfrm>
            <a:off x="7772400" y="299085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5" dirty="0">
                <a:solidFill>
                  <a:srgbClr val="B7FF35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→</a:t>
            </a:r>
            <a:endParaRPr lang="en-US" sz="1435" dirty="0"/>
          </a:p>
        </p:txBody>
      </p:sp>
      <p:sp>
        <p:nvSpPr>
          <p:cNvPr id="45" name="Shape 43"/>
          <p:cNvSpPr/>
          <p:nvPr/>
        </p:nvSpPr>
        <p:spPr>
          <a:xfrm>
            <a:off x="552450" y="5276850"/>
            <a:ext cx="11087100" cy="1028700"/>
          </a:xfrm>
          <a:prstGeom prst="roundRect">
            <a:avLst>
              <a:gd name="adj" fmla="val 12963"/>
            </a:avLst>
          </a:prstGeom>
          <a:solidFill>
            <a:srgbClr val="171A1F"/>
          </a:solidFill>
          <a:ln w="12700">
            <a:solidFill>
              <a:srgbClr val="FFB347">
                <a:alpha val="58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Text 44"/>
          <p:cNvSpPr/>
          <p:nvPr/>
        </p:nvSpPr>
        <p:spPr>
          <a:xfrm>
            <a:off x="800100" y="5486400"/>
            <a:ext cx="167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347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SAFETY SCOPE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2647950" y="5467350"/>
            <a:ext cx="6667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F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Care assistance, not diagnosis. Never autonomously prescribe or contact emergency services.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00100" y="5848350"/>
            <a:ext cx="10458450" cy="285750"/>
          </a:xfrm>
          <a:prstGeom prst="roundRect">
            <a:avLst>
              <a:gd name="adj" fmla="val 46667"/>
            </a:avLst>
          </a:prstGeom>
          <a:solidFill>
            <a:srgbClr val="344323"/>
          </a:solidFill>
          <a:ln w="8890">
            <a:solidFill>
              <a:srgbClr val="B7FF35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9" name="Text 47"/>
          <p:cNvSpPr/>
          <p:nvPr/>
        </p:nvSpPr>
        <p:spPr>
          <a:xfrm>
            <a:off x="990600" y="5924550"/>
            <a:ext cx="100774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7FF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 BYTES RAW PRIVATE MEDIA UPLOADED — TARGET · VERIFY WITH PACKET CAPTURE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0953750" y="6496050"/>
            <a:ext cx="685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9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/ 20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2450" y="266700"/>
            <a:ext cx="400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30" dirty="0">
                <a:solidFill>
                  <a:srgbClr val="20C8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REPOSITORY EVIDENCE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52450" y="476250"/>
            <a:ext cx="10382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8" b="1" dirty="0">
                <a:solidFill>
                  <a:srgbClr val="F4F6F3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WORKING SOURCE, READY TO PUBLISH</a:t>
            </a:r>
            <a:endParaRPr lang="en-US" sz="2808" dirty="0"/>
          </a:p>
        </p:txBody>
      </p:sp>
      <p:sp>
        <p:nvSpPr>
          <p:cNvPr id="4" name="Text 2"/>
          <p:cNvSpPr/>
          <p:nvPr/>
        </p:nvSpPr>
        <p:spPr>
          <a:xfrm>
            <a:off x="10953750" y="6496050"/>
            <a:ext cx="685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9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 / 20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52450" y="1257300"/>
            <a:ext cx="5219700" cy="4038600"/>
          </a:xfrm>
          <a:prstGeom prst="roundRect">
            <a:avLst>
              <a:gd name="adj" fmla="val 3774"/>
            </a:avLst>
          </a:prstGeom>
          <a:solidFill>
            <a:srgbClr val="171A1F"/>
          </a:solidFill>
          <a:ln w="12700">
            <a:solidFill>
              <a:srgbClr val="20C8B6">
                <a:alpha val="58000"/>
              </a:srgbClr>
            </a:solidFill>
            <a:prstDash val="solid"/>
          </a:ln>
          <a:effectLst>
            <a:outerShdw blurRad="152400" dist="38100" dir="2700000" algn="bl" rotWithShape="0">
              <a:srgbClr val="111827">
                <a:alpha val="34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800100" y="1485900"/>
            <a:ext cx="2381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60" b="1" dirty="0">
                <a:solidFill>
                  <a:srgbClr val="20C8B6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REPOSITORY TREE</a:t>
            </a:r>
            <a:endParaRPr lang="en-US" sz="1560" dirty="0"/>
          </a:p>
        </p:txBody>
      </p:sp>
      <p:sp>
        <p:nvSpPr>
          <p:cNvPr id="7" name="Text 5"/>
          <p:cNvSpPr/>
          <p:nvPr/>
        </p:nvSpPr>
        <p:spPr>
          <a:xfrm>
            <a:off x="800100" y="1924050"/>
            <a:ext cx="4572000" cy="3105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4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src/formosa_guardian/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4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events.py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4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detectors.py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4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fusion.py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4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privacy.py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4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policy.py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4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runtime.py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4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hailo_adapter.py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4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demo.py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4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models/model_card.md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4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docs/architecture.md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4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benchmarks/stage2_metrics.csv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4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tests/test_pipeline.py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00750" y="1257300"/>
            <a:ext cx="5638800" cy="4038600"/>
          </a:xfrm>
          <a:prstGeom prst="roundRect">
            <a:avLst>
              <a:gd name="adj" fmla="val 3774"/>
            </a:avLst>
          </a:prstGeom>
          <a:solidFill>
            <a:srgbClr val="171A1F"/>
          </a:solidFill>
          <a:ln w="12700">
            <a:solidFill>
              <a:srgbClr val="B7FF35">
                <a:alpha val="60000"/>
              </a:srgbClr>
            </a:solidFill>
            <a:prstDash val="solid"/>
          </a:ln>
          <a:effectLst>
            <a:outerShdw blurRad="152400" dist="38100" dir="2700000" algn="bl" rotWithShape="0">
              <a:srgbClr val="111827">
                <a:alpha val="34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6267450" y="1485900"/>
            <a:ext cx="2667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60" b="1" dirty="0">
                <a:solidFill>
                  <a:srgbClr val="B7FF35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LOCAL TEST RECEIPT</a:t>
            </a:r>
            <a:endParaRPr lang="en-US" sz="1560" dirty="0"/>
          </a:p>
        </p:txBody>
      </p:sp>
      <p:sp>
        <p:nvSpPr>
          <p:cNvPr id="10" name="Shape 8"/>
          <p:cNvSpPr/>
          <p:nvPr/>
        </p:nvSpPr>
        <p:spPr>
          <a:xfrm>
            <a:off x="6286500" y="2095500"/>
            <a:ext cx="190500" cy="190500"/>
          </a:xfrm>
          <a:prstGeom prst="ellipse">
            <a:avLst/>
          </a:prstGeom>
          <a:solidFill>
            <a:srgbClr val="B7FF35"/>
          </a:solidFill>
          <a:ln w="12700">
            <a:solidFill>
              <a:srgbClr val="B7FF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6286500" y="2085975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629400" y="2038350"/>
            <a:ext cx="457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3 unit tests pass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86500" y="2686050"/>
            <a:ext cx="190500" cy="190500"/>
          </a:xfrm>
          <a:prstGeom prst="ellipse">
            <a:avLst/>
          </a:prstGeom>
          <a:solidFill>
            <a:srgbClr val="B7FF35"/>
          </a:solidFill>
          <a:ln w="12700">
            <a:solidFill>
              <a:srgbClr val="B7FF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6286500" y="2676525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629400" y="2628900"/>
            <a:ext cx="457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Simulated fall → pseudonymized event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86500" y="3276600"/>
            <a:ext cx="190500" cy="190500"/>
          </a:xfrm>
          <a:prstGeom prst="ellipse">
            <a:avLst/>
          </a:prstGeom>
          <a:solidFill>
            <a:srgbClr val="B7FF35"/>
          </a:solidFill>
          <a:ln w="12700">
            <a:solidFill>
              <a:srgbClr val="B7FF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6286500" y="3267075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629400" y="3219450"/>
            <a:ext cx="457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Actions: local voice / caregiver / nurse station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86500" y="3867150"/>
            <a:ext cx="190500" cy="190500"/>
          </a:xfrm>
          <a:prstGeom prst="ellipse">
            <a:avLst/>
          </a:prstGeom>
          <a:solidFill>
            <a:srgbClr val="B7FF35"/>
          </a:solidFill>
          <a:ln w="12700">
            <a:solidFill>
              <a:srgbClr val="B7FF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6286500" y="3857625"/>
            <a:ext cx="19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629400" y="3810000"/>
            <a:ext cx="457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HailoRT integration seam included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2450" y="5543550"/>
            <a:ext cx="11087100" cy="781050"/>
          </a:xfrm>
          <a:prstGeom prst="roundRect">
            <a:avLst>
              <a:gd name="adj" fmla="val 17073"/>
            </a:avLst>
          </a:prstGeom>
          <a:solidFill>
            <a:srgbClr val="2A3522"/>
          </a:solidFill>
          <a:ln w="15240">
            <a:solidFill>
              <a:srgbClr val="B7FF35">
                <a:alpha val="9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819150" y="5695950"/>
            <a:ext cx="2381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B7FF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PUBLICATION TARGET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19150" y="5905500"/>
            <a:ext cx="8096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8" b="1" dirty="0">
                <a:solidFill>
                  <a:srgbClr val="F4F6F3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https://github.com/formosa-care-guardian/edge-care-guardian</a:t>
            </a:r>
            <a:endParaRPr lang="en-US" sz="1498" dirty="0"/>
          </a:p>
        </p:txBody>
      </p:sp>
      <p:sp>
        <p:nvSpPr>
          <p:cNvPr id="25" name="Text 23"/>
          <p:cNvSpPr/>
          <p:nvPr/>
        </p:nvSpPr>
        <p:spPr>
          <a:xfrm>
            <a:off x="9086850" y="5810250"/>
            <a:ext cx="2266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FFB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PUBLISH BEFORE SUBMISSION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2450" y="266700"/>
            <a:ext cx="4381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20C8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II EVIDENCE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52450" y="476250"/>
            <a:ext cx="10287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8" b="1" dirty="0">
                <a:solidFill>
                  <a:srgbClr val="F4F6F3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VALIDATION PLAN — TARGETS, NOT CLAIMS</a:t>
            </a:r>
            <a:endParaRPr lang="en-US" sz="2808" dirty="0"/>
          </a:p>
        </p:txBody>
      </p:sp>
      <p:sp>
        <p:nvSpPr>
          <p:cNvPr id="4" name="Text 2"/>
          <p:cNvSpPr/>
          <p:nvPr/>
        </p:nvSpPr>
        <p:spPr>
          <a:xfrm>
            <a:off x="10953750" y="6496050"/>
            <a:ext cx="685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9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 / 20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52450" y="1257300"/>
            <a:ext cx="7772400" cy="4343400"/>
          </a:xfrm>
          <a:prstGeom prst="roundRect">
            <a:avLst>
              <a:gd name="adj" fmla="val 3070"/>
            </a:avLst>
          </a:prstGeom>
          <a:solidFill>
            <a:srgbClr val="FDFFFA"/>
          </a:solidFill>
          <a:ln w="12700">
            <a:solidFill>
              <a:srgbClr val="F3FFDD">
                <a:alpha val="50000"/>
              </a:srgbClr>
            </a:solidFill>
            <a:prstDash val="solid"/>
          </a:ln>
          <a:effectLst>
            <a:outerShdw blurRad="152400" dist="38100" dir="2700000" algn="bl" rotWithShape="0">
              <a:srgbClr val="111827">
                <a:alpha val="34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781050" y="1466850"/>
            <a:ext cx="2571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FF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METRIC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0" y="1466850"/>
            <a:ext cx="160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FF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0" y="1466850"/>
            <a:ext cx="2571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FF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METHOD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42950" y="1790700"/>
            <a:ext cx="7391400" cy="571500"/>
          </a:xfrm>
          <a:prstGeom prst="roundRect">
            <a:avLst>
              <a:gd name="adj" fmla="val 13333"/>
            </a:avLst>
          </a:prstGeom>
          <a:solidFill>
            <a:srgbClr val="171A1F"/>
          </a:solidFill>
          <a:ln w="6350">
            <a:solidFill>
              <a:srgbClr val="2A3036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895350" y="1876425"/>
            <a:ext cx="2571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6F3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FALL-EVENT RECALL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38550" y="1914525"/>
            <a:ext cx="1657350" cy="323850"/>
          </a:xfrm>
          <a:prstGeom prst="roundRect">
            <a:avLst>
              <a:gd name="adj" fmla="val 47059"/>
            </a:avLst>
          </a:prstGeom>
          <a:solidFill>
            <a:srgbClr val="3D5124"/>
          </a:solidFill>
          <a:ln w="8890">
            <a:solidFill>
              <a:srgbClr val="B7FF35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3733800" y="1990725"/>
            <a:ext cx="14668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7FF35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≥95%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24500" y="1876425"/>
            <a:ext cx="2400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Subject-disjoint staged scenarios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42950" y="2476500"/>
            <a:ext cx="7391400" cy="571500"/>
          </a:xfrm>
          <a:prstGeom prst="roundRect">
            <a:avLst>
              <a:gd name="adj" fmla="val 13333"/>
            </a:avLst>
          </a:prstGeom>
          <a:solidFill>
            <a:srgbClr val="1F2520"/>
          </a:solidFill>
          <a:ln w="6350">
            <a:solidFill>
              <a:srgbClr val="2A3036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895350" y="2562225"/>
            <a:ext cx="2571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6F3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FALSE ALERTS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38550" y="2600325"/>
            <a:ext cx="1657350" cy="323850"/>
          </a:xfrm>
          <a:prstGeom prst="roundRect">
            <a:avLst>
              <a:gd name="adj" fmla="val 47059"/>
            </a:avLst>
          </a:prstGeom>
          <a:solidFill>
            <a:srgbClr val="3D5124"/>
          </a:solidFill>
          <a:ln w="8890">
            <a:solidFill>
              <a:srgbClr val="B7FF35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3733800" y="2676525"/>
            <a:ext cx="14668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7FF35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≤1 / room-day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524500" y="2562225"/>
            <a:ext cx="2400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72-hour scripted-room pilot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42950" y="3162300"/>
            <a:ext cx="7391400" cy="571500"/>
          </a:xfrm>
          <a:prstGeom prst="roundRect">
            <a:avLst>
              <a:gd name="adj" fmla="val 13333"/>
            </a:avLst>
          </a:prstGeom>
          <a:solidFill>
            <a:srgbClr val="171A1F"/>
          </a:solidFill>
          <a:ln w="6350">
            <a:solidFill>
              <a:srgbClr val="2A3036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895350" y="3248025"/>
            <a:ext cx="2571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6F3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EVENT-TO-ALERT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38550" y="3286125"/>
            <a:ext cx="1657350" cy="323850"/>
          </a:xfrm>
          <a:prstGeom prst="roundRect">
            <a:avLst>
              <a:gd name="adj" fmla="val 47059"/>
            </a:avLst>
          </a:prstGeom>
          <a:solidFill>
            <a:srgbClr val="3D5124"/>
          </a:solidFill>
          <a:ln w="8890">
            <a:solidFill>
              <a:srgbClr val="B7FF35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3733800" y="3362325"/>
            <a:ext cx="14668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7FF35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≤250 ms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24500" y="3248025"/>
            <a:ext cx="2400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Sensor ingress → router timestamps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42950" y="3848100"/>
            <a:ext cx="7391400" cy="571500"/>
          </a:xfrm>
          <a:prstGeom prst="roundRect">
            <a:avLst>
              <a:gd name="adj" fmla="val 13333"/>
            </a:avLst>
          </a:prstGeom>
          <a:solidFill>
            <a:srgbClr val="1F2520"/>
          </a:solidFill>
          <a:ln w="6350">
            <a:solidFill>
              <a:srgbClr val="2A3036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895350" y="3933825"/>
            <a:ext cx="2571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6F3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CRITICAL RULES OFFLINE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638550" y="3971925"/>
            <a:ext cx="1657350" cy="323850"/>
          </a:xfrm>
          <a:prstGeom prst="roundRect">
            <a:avLst>
              <a:gd name="adj" fmla="val 47059"/>
            </a:avLst>
          </a:prstGeom>
          <a:solidFill>
            <a:srgbClr val="3D5124"/>
          </a:solidFill>
          <a:ln w="8890">
            <a:solidFill>
              <a:srgbClr val="B7FF35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3733800" y="4048125"/>
            <a:ext cx="14668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7FF35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100%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524500" y="3933825"/>
            <a:ext cx="2400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Network-disconnect scenario suite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42950" y="4533900"/>
            <a:ext cx="7391400" cy="571500"/>
          </a:xfrm>
          <a:prstGeom prst="roundRect">
            <a:avLst>
              <a:gd name="adj" fmla="val 13333"/>
            </a:avLst>
          </a:prstGeom>
          <a:solidFill>
            <a:srgbClr val="171A1F"/>
          </a:solidFill>
          <a:ln w="6350">
            <a:solidFill>
              <a:srgbClr val="2A3036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895350" y="4619625"/>
            <a:ext cx="2571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F6F3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RAW PRIVATE MEDIA UPLOADED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3638550" y="4657725"/>
            <a:ext cx="1657350" cy="323850"/>
          </a:xfrm>
          <a:prstGeom prst="roundRect">
            <a:avLst>
              <a:gd name="adj" fmla="val 47059"/>
            </a:avLst>
          </a:prstGeom>
          <a:solidFill>
            <a:srgbClr val="3D5124"/>
          </a:solidFill>
          <a:ln w="8890">
            <a:solidFill>
              <a:srgbClr val="B7FF35">
                <a:alpha val="72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Text 30"/>
          <p:cNvSpPr/>
          <p:nvPr/>
        </p:nvSpPr>
        <p:spPr>
          <a:xfrm>
            <a:off x="3733800" y="4733925"/>
            <a:ext cx="14668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7FF35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0 bytes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524500" y="4619625"/>
            <a:ext cx="2400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Packet capture + egress audit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572500" y="1257300"/>
            <a:ext cx="3067050" cy="4343400"/>
          </a:xfrm>
          <a:prstGeom prst="roundRect">
            <a:avLst>
              <a:gd name="adj" fmla="val 4348"/>
            </a:avLst>
          </a:prstGeom>
          <a:solidFill>
            <a:srgbClr val="F4FCFB"/>
          </a:solidFill>
          <a:ln w="12700">
            <a:solidFill>
              <a:srgbClr val="CEF3EF">
                <a:alpha val="55000"/>
              </a:srgbClr>
            </a:solidFill>
            <a:prstDash val="solid"/>
          </a:ln>
          <a:effectLst>
            <a:outerShdw blurRad="152400" dist="38100" dir="2700000" algn="bl" rotWithShape="0">
              <a:srgbClr val="111827">
                <a:alpha val="34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5" name="Text 33"/>
          <p:cNvSpPr/>
          <p:nvPr/>
        </p:nvSpPr>
        <p:spPr>
          <a:xfrm>
            <a:off x="8858250" y="1581150"/>
            <a:ext cx="24955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2" b="1" dirty="0">
                <a:solidFill>
                  <a:srgbClr val="20C8B6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HUMAN</a:t>
            </a:r>
            <a:endParaRPr lang="en-US" sz="1872" dirty="0"/>
          </a:p>
          <a:p>
            <a:pPr marL="0" indent="0" algn="ctr">
              <a:buNone/>
            </a:pPr>
            <a:r>
              <a:rPr lang="en-US" sz="1872" b="1" dirty="0">
                <a:solidFill>
                  <a:srgbClr val="20C8B6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SUCCESS GATE</a:t>
            </a:r>
            <a:endParaRPr lang="en-US" sz="1872" dirty="0"/>
          </a:p>
        </p:txBody>
      </p:sp>
      <p:sp>
        <p:nvSpPr>
          <p:cNvPr id="36" name="Shape 34"/>
          <p:cNvSpPr/>
          <p:nvPr/>
        </p:nvSpPr>
        <p:spPr>
          <a:xfrm>
            <a:off x="9029700" y="2514600"/>
            <a:ext cx="2152650" cy="438150"/>
          </a:xfrm>
          <a:prstGeom prst="roundRect">
            <a:avLst>
              <a:gd name="adj" fmla="val 21739"/>
            </a:avLst>
          </a:prstGeom>
          <a:solidFill>
            <a:srgbClr val="182F31"/>
          </a:solidFill>
          <a:ln w="8890">
            <a:solidFill>
              <a:srgbClr val="20C8B6">
                <a:alpha val="48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Text 35"/>
          <p:cNvSpPr/>
          <p:nvPr/>
        </p:nvSpPr>
        <p:spPr>
          <a:xfrm>
            <a:off x="9201150" y="2628900"/>
            <a:ext cx="1809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F6F3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ACKNOWLEDGE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9029700" y="3143250"/>
            <a:ext cx="2152650" cy="438150"/>
          </a:xfrm>
          <a:prstGeom prst="roundRect">
            <a:avLst>
              <a:gd name="adj" fmla="val 21739"/>
            </a:avLst>
          </a:prstGeom>
          <a:solidFill>
            <a:srgbClr val="182F31"/>
          </a:solidFill>
          <a:ln w="8890">
            <a:solidFill>
              <a:srgbClr val="20C8B6">
                <a:alpha val="48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Text 37"/>
          <p:cNvSpPr/>
          <p:nvPr/>
        </p:nvSpPr>
        <p:spPr>
          <a:xfrm>
            <a:off x="9201150" y="3257550"/>
            <a:ext cx="1809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F6F3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ESCALATE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9029700" y="3771900"/>
            <a:ext cx="2152650" cy="438150"/>
          </a:xfrm>
          <a:prstGeom prst="roundRect">
            <a:avLst>
              <a:gd name="adj" fmla="val 21739"/>
            </a:avLst>
          </a:prstGeom>
          <a:solidFill>
            <a:srgbClr val="182F31"/>
          </a:solidFill>
          <a:ln w="8890">
            <a:solidFill>
              <a:srgbClr val="20C8B6">
                <a:alpha val="48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Text 39"/>
          <p:cNvSpPr/>
          <p:nvPr/>
        </p:nvSpPr>
        <p:spPr>
          <a:xfrm>
            <a:off x="9201150" y="3886200"/>
            <a:ext cx="1809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F6F3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RESOLVE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9029700" y="4400550"/>
            <a:ext cx="2152650" cy="438150"/>
          </a:xfrm>
          <a:prstGeom prst="roundRect">
            <a:avLst>
              <a:gd name="adj" fmla="val 21739"/>
            </a:avLst>
          </a:prstGeom>
          <a:solidFill>
            <a:srgbClr val="182F31"/>
          </a:solidFill>
          <a:ln w="8890">
            <a:solidFill>
              <a:srgbClr val="20C8B6">
                <a:alpha val="48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Text 41"/>
          <p:cNvSpPr/>
          <p:nvPr/>
        </p:nvSpPr>
        <p:spPr>
          <a:xfrm>
            <a:off x="9201150" y="4514850"/>
            <a:ext cx="1809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F6F3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AUDIT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52450" y="5905500"/>
            <a:ext cx="11087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B34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value is a TARGET. Measured fields remain PENDING until UGen300 validation.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2450" y="266700"/>
            <a:ext cx="400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30" dirty="0">
                <a:solidFill>
                  <a:srgbClr val="20C8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II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52450" y="476250"/>
            <a:ext cx="10096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83" b="1" dirty="0">
                <a:solidFill>
                  <a:srgbClr val="F4F6F3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STAGE II EXECUTION — SIX WEEKS TO EVIDENCE</a:t>
            </a:r>
            <a:endParaRPr lang="en-US" sz="2683" dirty="0"/>
          </a:p>
        </p:txBody>
      </p:sp>
      <p:sp>
        <p:nvSpPr>
          <p:cNvPr id="4" name="Shape 2"/>
          <p:cNvSpPr/>
          <p:nvPr/>
        </p:nvSpPr>
        <p:spPr>
          <a:xfrm>
            <a:off x="552450" y="1257300"/>
            <a:ext cx="3162300" cy="4476750"/>
          </a:xfrm>
          <a:prstGeom prst="roundRect">
            <a:avLst>
              <a:gd name="adj" fmla="val 4819"/>
            </a:avLst>
          </a:prstGeom>
          <a:solidFill>
            <a:srgbClr val="FFFCF9"/>
          </a:solidFill>
          <a:ln w="12700">
            <a:solidFill>
              <a:srgbClr val="FFF1DE">
                <a:alpha val="48000"/>
              </a:srgbClr>
            </a:solidFill>
            <a:prstDash val="solid"/>
          </a:ln>
          <a:effectLst>
            <a:outerShdw blurRad="152400" dist="38100" dir="2700000" algn="bl" rotWithShape="0">
              <a:srgbClr val="111827">
                <a:alpha val="34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00100" y="1504950"/>
            <a:ext cx="2667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22" b="1" dirty="0">
                <a:solidFill>
                  <a:srgbClr val="FFB347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OFFICIAL DATES</a:t>
            </a:r>
            <a:endParaRPr lang="en-US" sz="1622" dirty="0"/>
          </a:p>
        </p:txBody>
      </p:sp>
      <p:sp>
        <p:nvSpPr>
          <p:cNvPr id="6" name="Shape 4"/>
          <p:cNvSpPr/>
          <p:nvPr/>
        </p:nvSpPr>
        <p:spPr>
          <a:xfrm>
            <a:off x="800100" y="2057400"/>
            <a:ext cx="2667000" cy="628650"/>
          </a:xfrm>
          <a:prstGeom prst="roundRect">
            <a:avLst>
              <a:gd name="adj" fmla="val 13636"/>
            </a:avLst>
          </a:prstGeom>
          <a:solidFill>
            <a:srgbClr val="272522"/>
          </a:solidFill>
          <a:ln w="7620">
            <a:solidFill>
              <a:srgbClr val="FFB347">
                <a:alpha val="34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952500" y="2152650"/>
            <a:ext cx="1066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347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26 OCT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52500" y="2400300"/>
            <a:ext cx="23241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Finalists announced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00100" y="2876550"/>
            <a:ext cx="2667000" cy="628650"/>
          </a:xfrm>
          <a:prstGeom prst="roundRect">
            <a:avLst>
              <a:gd name="adj" fmla="val 13636"/>
            </a:avLst>
          </a:prstGeom>
          <a:solidFill>
            <a:srgbClr val="272522"/>
          </a:solidFill>
          <a:ln w="7620">
            <a:solidFill>
              <a:srgbClr val="FFB347">
                <a:alpha val="34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952500" y="2971800"/>
            <a:ext cx="1066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347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6 NOV–4 DEC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52500" y="3219450"/>
            <a:ext cx="23241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II development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0100" y="3695700"/>
            <a:ext cx="2667000" cy="628650"/>
          </a:xfrm>
          <a:prstGeom prst="roundRect">
            <a:avLst>
              <a:gd name="adj" fmla="val 13636"/>
            </a:avLst>
          </a:prstGeom>
          <a:solidFill>
            <a:srgbClr val="272522"/>
          </a:solidFill>
          <a:ln w="7620">
            <a:solidFill>
              <a:srgbClr val="FFB347">
                <a:alpha val="34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952500" y="3790950"/>
            <a:ext cx="1066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347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10 DEC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52500" y="4038600"/>
            <a:ext cx="23241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Onsite deck due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0100" y="4514850"/>
            <a:ext cx="2667000" cy="628650"/>
          </a:xfrm>
          <a:prstGeom prst="roundRect">
            <a:avLst>
              <a:gd name="adj" fmla="val 13636"/>
            </a:avLst>
          </a:prstGeom>
          <a:solidFill>
            <a:srgbClr val="272522"/>
          </a:solidFill>
          <a:ln w="7620">
            <a:solidFill>
              <a:srgbClr val="FFB347">
                <a:alpha val="34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952500" y="4610100"/>
            <a:ext cx="1066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347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19 DEC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52500" y="4857750"/>
            <a:ext cx="23241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4F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Onsite final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000500" y="1257300"/>
            <a:ext cx="7639050" cy="4476750"/>
          </a:xfrm>
          <a:prstGeom prst="roundRect">
            <a:avLst>
              <a:gd name="adj" fmla="val 3404"/>
            </a:avLst>
          </a:prstGeom>
          <a:solidFill>
            <a:srgbClr val="FDFFFA"/>
          </a:solidFill>
          <a:ln w="12700">
            <a:solidFill>
              <a:srgbClr val="F2FFDB">
                <a:alpha val="50000"/>
              </a:srgbClr>
            </a:solidFill>
            <a:prstDash val="solid"/>
          </a:ln>
          <a:effectLst>
            <a:outerShdw blurRad="152400" dist="38100" dir="2700000" algn="bl" rotWithShape="0">
              <a:srgbClr val="111827">
                <a:alpha val="34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4267200" y="1504950"/>
            <a:ext cx="381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22" b="1" dirty="0">
                <a:solidFill>
                  <a:srgbClr val="B7FF35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IMPLEMENTATION ROADMAP</a:t>
            </a:r>
            <a:endParaRPr lang="en-US" sz="1622" dirty="0"/>
          </a:p>
        </p:txBody>
      </p:sp>
      <p:sp>
        <p:nvSpPr>
          <p:cNvPr id="20" name="Shape 18"/>
          <p:cNvSpPr/>
          <p:nvPr/>
        </p:nvSpPr>
        <p:spPr>
          <a:xfrm>
            <a:off x="4648200" y="2076450"/>
            <a:ext cx="38100" cy="3105150"/>
          </a:xfrm>
          <a:prstGeom prst="rect">
            <a:avLst/>
          </a:prstGeom>
          <a:solidFill>
            <a:srgbClr val="B7FF35"/>
          </a:solidFill>
          <a:ln w="12700">
            <a:solidFill>
              <a:srgbClr val="B7FF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4457700" y="1962150"/>
            <a:ext cx="419100" cy="419100"/>
          </a:xfrm>
          <a:prstGeom prst="ellipse">
            <a:avLst/>
          </a:prstGeom>
          <a:solidFill>
            <a:srgbClr val="20C8B6"/>
          </a:solidFill>
          <a:ln w="12700">
            <a:solidFill>
              <a:srgbClr val="20C8B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4457700" y="2066925"/>
            <a:ext cx="419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W0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067300" y="1924050"/>
            <a:ext cx="6248400" cy="495300"/>
          </a:xfrm>
          <a:prstGeom prst="roundRect">
            <a:avLst>
              <a:gd name="adj" fmla="val 17308"/>
            </a:avLst>
          </a:prstGeom>
          <a:solidFill>
            <a:srgbClr val="18282B"/>
          </a:solidFill>
          <a:ln w="7620">
            <a:solidFill>
              <a:srgbClr val="20C8B6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5238750" y="2009775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C8B6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BRING-UP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15250" y="2009775"/>
            <a:ext cx="3409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4F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Environment + UGen300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457700" y="2514600"/>
            <a:ext cx="419100" cy="419100"/>
          </a:xfrm>
          <a:prstGeom prst="ellipse">
            <a:avLst/>
          </a:prstGeom>
          <a:solidFill>
            <a:srgbClr val="20C8B6"/>
          </a:solidFill>
          <a:ln w="12700">
            <a:solidFill>
              <a:srgbClr val="20C8B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4457700" y="2619375"/>
            <a:ext cx="419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W1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067300" y="2476500"/>
            <a:ext cx="6248400" cy="495300"/>
          </a:xfrm>
          <a:prstGeom prst="roundRect">
            <a:avLst>
              <a:gd name="adj" fmla="val 17308"/>
            </a:avLst>
          </a:prstGeom>
          <a:solidFill>
            <a:srgbClr val="18282B"/>
          </a:solidFill>
          <a:ln w="7620">
            <a:solidFill>
              <a:srgbClr val="20C8B6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/>
          <p:nvPr/>
        </p:nvSpPr>
        <p:spPr>
          <a:xfrm>
            <a:off x="5238750" y="2562225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C8B6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BASELINE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715250" y="2562225"/>
            <a:ext cx="3409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4F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Model, license, ONNX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457700" y="3067050"/>
            <a:ext cx="419100" cy="419100"/>
          </a:xfrm>
          <a:prstGeom prst="ellipse">
            <a:avLst/>
          </a:prstGeom>
          <a:solidFill>
            <a:srgbClr val="20C8B6"/>
          </a:solidFill>
          <a:ln w="12700">
            <a:solidFill>
              <a:srgbClr val="20C8B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Text 30"/>
          <p:cNvSpPr/>
          <p:nvPr/>
        </p:nvSpPr>
        <p:spPr>
          <a:xfrm>
            <a:off x="4457700" y="3171825"/>
            <a:ext cx="419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W2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067300" y="3028950"/>
            <a:ext cx="6248400" cy="495300"/>
          </a:xfrm>
          <a:prstGeom prst="roundRect">
            <a:avLst>
              <a:gd name="adj" fmla="val 17308"/>
            </a:avLst>
          </a:prstGeom>
          <a:solidFill>
            <a:srgbClr val="18282B"/>
          </a:solidFill>
          <a:ln w="7620">
            <a:solidFill>
              <a:srgbClr val="20C8B6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Text 32"/>
          <p:cNvSpPr/>
          <p:nvPr/>
        </p:nvSpPr>
        <p:spPr>
          <a:xfrm>
            <a:off x="5238750" y="3114675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C8B6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COMPILE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715250" y="3114675"/>
            <a:ext cx="3409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4F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Calibration + Hailo compile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457700" y="3619500"/>
            <a:ext cx="419100" cy="419100"/>
          </a:xfrm>
          <a:prstGeom prst="ellipse">
            <a:avLst/>
          </a:prstGeom>
          <a:solidFill>
            <a:srgbClr val="B7FF35"/>
          </a:solidFill>
          <a:ln w="12700">
            <a:solidFill>
              <a:srgbClr val="B7FF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Text 35"/>
          <p:cNvSpPr/>
          <p:nvPr/>
        </p:nvSpPr>
        <p:spPr>
          <a:xfrm>
            <a:off x="4457700" y="3724275"/>
            <a:ext cx="419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W3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067300" y="3581400"/>
            <a:ext cx="6248400" cy="495300"/>
          </a:xfrm>
          <a:prstGeom prst="roundRect">
            <a:avLst>
              <a:gd name="adj" fmla="val 17308"/>
            </a:avLst>
          </a:prstGeom>
          <a:solidFill>
            <a:srgbClr val="242C21"/>
          </a:solidFill>
          <a:ln w="7620">
            <a:solidFill>
              <a:srgbClr val="B7FF35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Text 37"/>
          <p:cNvSpPr/>
          <p:nvPr/>
        </p:nvSpPr>
        <p:spPr>
          <a:xfrm>
            <a:off x="5238750" y="3667125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FF35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INTEGRATE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715250" y="3667125"/>
            <a:ext cx="3409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4F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Adapters + fusion + offline queue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457700" y="4171950"/>
            <a:ext cx="419100" cy="419100"/>
          </a:xfrm>
          <a:prstGeom prst="ellipse">
            <a:avLst/>
          </a:prstGeom>
          <a:solidFill>
            <a:srgbClr val="B7FF35"/>
          </a:solidFill>
          <a:ln w="12700">
            <a:solidFill>
              <a:srgbClr val="B7FF3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Text 40"/>
          <p:cNvSpPr/>
          <p:nvPr/>
        </p:nvSpPr>
        <p:spPr>
          <a:xfrm>
            <a:off x="4457700" y="4276725"/>
            <a:ext cx="419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W4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5067300" y="4133850"/>
            <a:ext cx="6248400" cy="495300"/>
          </a:xfrm>
          <a:prstGeom prst="roundRect">
            <a:avLst>
              <a:gd name="adj" fmla="val 17308"/>
            </a:avLst>
          </a:prstGeom>
          <a:solidFill>
            <a:srgbClr val="242C21"/>
          </a:solidFill>
          <a:ln w="7620">
            <a:solidFill>
              <a:srgbClr val="B7FF35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Text 42"/>
          <p:cNvSpPr/>
          <p:nvPr/>
        </p:nvSpPr>
        <p:spPr>
          <a:xfrm>
            <a:off x="5238750" y="4219575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FF35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WORKFLOW + PRIVACY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715250" y="4219575"/>
            <a:ext cx="3409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4F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Caregiver flow + egress audit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457700" y="4724400"/>
            <a:ext cx="419100" cy="41910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7" name="Text 45"/>
          <p:cNvSpPr/>
          <p:nvPr/>
        </p:nvSpPr>
        <p:spPr>
          <a:xfrm>
            <a:off x="4457700" y="4829175"/>
            <a:ext cx="419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111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W5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5067300" y="4686300"/>
            <a:ext cx="6248400" cy="495300"/>
          </a:xfrm>
          <a:prstGeom prst="roundRect">
            <a:avLst>
              <a:gd name="adj" fmla="val 17308"/>
            </a:avLst>
          </a:prstGeom>
          <a:solidFill>
            <a:srgbClr val="2A2622"/>
          </a:solidFill>
          <a:ln w="7620">
            <a:solidFill>
              <a:srgbClr val="FFB347">
                <a:alpha val="38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9" name="Text 47"/>
          <p:cNvSpPr/>
          <p:nvPr/>
        </p:nvSpPr>
        <p:spPr>
          <a:xfrm>
            <a:off x="5238750" y="4772025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347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EVIDENCE + DEMO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7715250" y="4772025"/>
            <a:ext cx="3409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4F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suite + report + 3-min English demo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52450" y="5924550"/>
            <a:ext cx="11087100" cy="381000"/>
          </a:xfrm>
          <a:prstGeom prst="roundRect">
            <a:avLst>
              <a:gd name="adj" fmla="val 45000"/>
            </a:avLst>
          </a:prstGeom>
          <a:solidFill>
            <a:srgbClr val="273121"/>
          </a:solidFill>
          <a:ln w="10160">
            <a:solidFill>
              <a:srgbClr val="B7FF35">
                <a:alpha val="68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2" name="Text 50"/>
          <p:cNvSpPr/>
          <p:nvPr/>
        </p:nvSpPr>
        <p:spPr>
          <a:xfrm>
            <a:off x="800100" y="6029325"/>
            <a:ext cx="10591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7FF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 BUNDLE · HARDWARE · GITHUB · ARCHITECTURE · MODEL CARD · PERFORMANCE DATA · DEMO VIDEO · DECK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10953750" y="6496050"/>
            <a:ext cx="685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9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 / 20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oai/share/fcg_deck/.image-cover-cache/4cf68061ca2ad81bf92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61975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619750" cy="6858000"/>
          </a:xfrm>
          <a:prstGeom prst="rect">
            <a:avLst/>
          </a:prstGeom>
          <a:solidFill>
            <a:srgbClr val="08090B">
              <a:alpha val="22000"/>
            </a:srgbClr>
          </a:solidFill>
          <a:ln w="12700">
            <a:solidFill>
              <a:srgbClr val="0809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1"/>
          <p:cNvSpPr/>
          <p:nvPr/>
        </p:nvSpPr>
        <p:spPr>
          <a:xfrm>
            <a:off x="5334000" y="0"/>
            <a:ext cx="285750" cy="6858000"/>
          </a:xfrm>
          <a:prstGeom prst="rect">
            <a:avLst/>
          </a:prstGeom>
          <a:solidFill>
            <a:srgbClr val="08090B">
              <a:alpha val="80000"/>
            </a:srgbClr>
          </a:solidFill>
          <a:ln w="12700">
            <a:solidFill>
              <a:srgbClr val="0809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2"/>
          <p:cNvSpPr/>
          <p:nvPr/>
        </p:nvSpPr>
        <p:spPr>
          <a:xfrm>
            <a:off x="457200" y="457200"/>
            <a:ext cx="209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B7FF3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HUMAN VALUE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4438650"/>
            <a:ext cx="4381500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2870" b="1" dirty="0">
                <a:solidFill>
                  <a:srgbClr val="F4F6F3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PROTECT THE</a:t>
            </a:r>
            <a:endParaRPr lang="en-US" sz="287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2870" b="1" dirty="0">
                <a:solidFill>
                  <a:srgbClr val="F4F6F3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MOMENTS</a:t>
            </a:r>
            <a:endParaRPr lang="en-US" sz="287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2870" b="1" dirty="0">
                <a:solidFill>
                  <a:srgbClr val="F4F6F3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BETWEEN VISITS</a:t>
            </a:r>
            <a:endParaRPr lang="en-US" sz="2870" dirty="0"/>
          </a:p>
        </p:txBody>
      </p:sp>
      <p:sp>
        <p:nvSpPr>
          <p:cNvPr id="7" name="Text 4"/>
          <p:cNvSpPr/>
          <p:nvPr/>
        </p:nvSpPr>
        <p:spPr>
          <a:xfrm>
            <a:off x="6038850" y="457200"/>
            <a:ext cx="54673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34" b="1" dirty="0">
                <a:solidFill>
                  <a:srgbClr val="F4F6F3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EXPECTED VALUE — MORE TIME FOR HUMAN CARE</a:t>
            </a:r>
            <a:endParaRPr lang="en-US" sz="2434" dirty="0"/>
          </a:p>
        </p:txBody>
      </p:sp>
      <p:sp>
        <p:nvSpPr>
          <p:cNvPr id="8" name="Shape 5"/>
          <p:cNvSpPr/>
          <p:nvPr/>
        </p:nvSpPr>
        <p:spPr>
          <a:xfrm>
            <a:off x="6038850" y="1428750"/>
            <a:ext cx="5467350" cy="723900"/>
          </a:xfrm>
          <a:prstGeom prst="roundRect">
            <a:avLst>
              <a:gd name="adj" fmla="val 15789"/>
            </a:avLst>
          </a:prstGeom>
          <a:solidFill>
            <a:srgbClr val="FCFFF8"/>
          </a:solidFill>
          <a:ln w="12700">
            <a:solidFill>
              <a:srgbClr val="F3FFDD">
                <a:alpha val="48000"/>
              </a:srgbClr>
            </a:solidFill>
            <a:prstDash val="solid"/>
          </a:ln>
          <a:effectLst>
            <a:outerShdw blurRad="127000" dist="25400" dir="2700000" algn="bl" rotWithShape="0">
              <a:srgbClr val="1F2937">
                <a:alpha val="3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9" name="Text 6"/>
          <p:cNvSpPr/>
          <p:nvPr/>
        </p:nvSpPr>
        <p:spPr>
          <a:xfrm>
            <a:off x="6248400" y="1543050"/>
            <a:ext cx="161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FF35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RESIDENT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981950" y="1524000"/>
            <a:ext cx="32956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Faster attention with less intrusive sensing.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038850" y="2286000"/>
            <a:ext cx="5467350" cy="723900"/>
          </a:xfrm>
          <a:prstGeom prst="roundRect">
            <a:avLst>
              <a:gd name="adj" fmla="val 15789"/>
            </a:avLst>
          </a:prstGeom>
          <a:solidFill>
            <a:srgbClr val="F7FDFC"/>
          </a:solidFill>
          <a:ln w="12700">
            <a:solidFill>
              <a:srgbClr val="D9F6F3">
                <a:alpha val="48000"/>
              </a:srgbClr>
            </a:solidFill>
            <a:prstDash val="solid"/>
          </a:ln>
          <a:effectLst>
            <a:outerShdw blurRad="127000" dist="25400" dir="2700000" algn="bl" rotWithShape="0">
              <a:srgbClr val="1F2937">
                <a:alpha val="3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Text 9"/>
          <p:cNvSpPr/>
          <p:nvPr/>
        </p:nvSpPr>
        <p:spPr>
          <a:xfrm>
            <a:off x="6248400" y="2400300"/>
            <a:ext cx="161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0C8B6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CAREGIVER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981950" y="2381250"/>
            <a:ext cx="32956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Fewer unnecessary checks and clearer event context.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038850" y="3143250"/>
            <a:ext cx="5467350" cy="723900"/>
          </a:xfrm>
          <a:prstGeom prst="roundRect">
            <a:avLst>
              <a:gd name="adj" fmla="val 15789"/>
            </a:avLst>
          </a:prstGeom>
          <a:solidFill>
            <a:srgbClr val="FFFCF9"/>
          </a:solidFill>
          <a:ln w="12700">
            <a:solidFill>
              <a:srgbClr val="FFF2E0">
                <a:alpha val="48000"/>
              </a:srgbClr>
            </a:solidFill>
            <a:prstDash val="solid"/>
          </a:ln>
          <a:effectLst>
            <a:outerShdw blurRad="127000" dist="25400" dir="2700000" algn="bl" rotWithShape="0">
              <a:srgbClr val="1F2937">
                <a:alpha val="3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2"/>
          <p:cNvSpPr/>
          <p:nvPr/>
        </p:nvSpPr>
        <p:spPr>
          <a:xfrm>
            <a:off x="6248400" y="3257550"/>
            <a:ext cx="161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347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OPERATOR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981950" y="3238500"/>
            <a:ext cx="32956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modular node across room types; auditable privacy; serviceable components.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038850" y="4000500"/>
            <a:ext cx="5467350" cy="723900"/>
          </a:xfrm>
          <a:prstGeom prst="roundRect">
            <a:avLst>
              <a:gd name="adj" fmla="val 15789"/>
            </a:avLst>
          </a:prstGeom>
          <a:solidFill>
            <a:srgbClr val="FCFFF8"/>
          </a:solidFill>
          <a:ln w="12700">
            <a:solidFill>
              <a:srgbClr val="F3FFDD">
                <a:alpha val="48000"/>
              </a:srgbClr>
            </a:solidFill>
            <a:prstDash val="solid"/>
          </a:ln>
          <a:effectLst>
            <a:outerShdw blurRad="127000" dist="25400" dir="2700000" algn="bl" rotWithShape="0">
              <a:srgbClr val="1F2937">
                <a:alpha val="3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5"/>
          <p:cNvSpPr/>
          <p:nvPr/>
        </p:nvSpPr>
        <p:spPr>
          <a:xfrm>
            <a:off x="6248400" y="4114800"/>
            <a:ext cx="161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FF35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BUSINESS MODEL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981950" y="4095750"/>
            <a:ext cx="32956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Hardware starter kit + per-site software and support; expand sensor adapters over time.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038850" y="5010150"/>
            <a:ext cx="5467350" cy="1066800"/>
          </a:xfrm>
          <a:prstGeom prst="roundRect">
            <a:avLst>
              <a:gd name="adj" fmla="val 12500"/>
            </a:avLst>
          </a:prstGeom>
          <a:solidFill>
            <a:srgbClr val="273121"/>
          </a:solidFill>
          <a:ln w="12700">
            <a:solidFill>
              <a:srgbClr val="B7FF35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8"/>
          <p:cNvSpPr/>
          <p:nvPr/>
        </p:nvSpPr>
        <p:spPr>
          <a:xfrm>
            <a:off x="6286500" y="5219700"/>
            <a:ext cx="49720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8" b="1" dirty="0">
                <a:solidFill>
                  <a:srgbClr val="B7FF35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WE ARE NOT REPLACING CARE.</a:t>
            </a:r>
            <a:endParaRPr lang="en-US" sz="1498" dirty="0"/>
          </a:p>
        </p:txBody>
      </p:sp>
      <p:sp>
        <p:nvSpPr>
          <p:cNvPr id="22" name="Text 19"/>
          <p:cNvSpPr/>
          <p:nvPr/>
        </p:nvSpPr>
        <p:spPr>
          <a:xfrm>
            <a:off x="6286500" y="5562600"/>
            <a:ext cx="49720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F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are protecting the moments when care cannot be physically present.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038850" y="6248400"/>
            <a:ext cx="495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Pilot hypotheses — not measured clinical or business outcomes.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0953750" y="6496050"/>
            <a:ext cx="685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9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 / 20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8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2450" y="266700"/>
            <a:ext cx="400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30" dirty="0">
                <a:solidFill>
                  <a:srgbClr val="20C8B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 GROUNDING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52450" y="476250"/>
            <a:ext cx="10382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8" b="1" dirty="0">
                <a:solidFill>
                  <a:srgbClr val="F4F6F3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REFERENCES &amp; SUBMISSION LINKS</a:t>
            </a:r>
            <a:endParaRPr lang="en-US" sz="2808" dirty="0"/>
          </a:p>
        </p:txBody>
      </p:sp>
      <p:sp>
        <p:nvSpPr>
          <p:cNvPr id="4" name="Text 2"/>
          <p:cNvSpPr/>
          <p:nvPr/>
        </p:nvSpPr>
        <p:spPr>
          <a:xfrm>
            <a:off x="10953750" y="6496050"/>
            <a:ext cx="685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A9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 / 20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52450" y="1219200"/>
            <a:ext cx="5448300" cy="4095750"/>
          </a:xfrm>
          <a:prstGeom prst="roundRect">
            <a:avLst>
              <a:gd name="adj" fmla="val 3256"/>
            </a:avLst>
          </a:prstGeom>
          <a:solidFill>
            <a:srgbClr val="171A1F"/>
          </a:solidFill>
          <a:ln w="12700">
            <a:solidFill>
              <a:srgbClr val="20C8B6">
                <a:alpha val="52000"/>
              </a:srgbClr>
            </a:solidFill>
            <a:prstDash val="solid"/>
          </a:ln>
          <a:effectLst>
            <a:outerShdw blurRad="152400" dist="38100" dir="2700000" algn="bl" rotWithShape="0">
              <a:srgbClr val="111827">
                <a:alpha val="34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762000" y="1409700"/>
            <a:ext cx="38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FF35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8250" y="1409700"/>
            <a:ext cx="4476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F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ASUS UGen AI League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8250" y="1647825"/>
            <a:ext cx="4476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bhuntr.com/tw/competitions/39jg9vimiynrhlksze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2038350"/>
            <a:ext cx="38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FF35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8250" y="2038350"/>
            <a:ext cx="4476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F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ASUS UGen300 M.2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38250" y="2276475"/>
            <a:ext cx="4476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asus.com/sg/.../ugen300-m2-8g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2000" y="2667000"/>
            <a:ext cx="38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FF35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8250" y="2667000"/>
            <a:ext cx="4476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F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Hailo AI Software Suite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38250" y="2905125"/>
            <a:ext cx="4476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9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hailo.ai/products/hailo-software/hailo-ai-software-suite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62000" y="3295650"/>
            <a:ext cx="38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FF35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04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8250" y="3295650"/>
            <a:ext cx="4476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F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Hailo-10H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38250" y="3533775"/>
            <a:ext cx="4476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9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hailo.ai/products/ai-accelerators/hailo-10h-ai-accelerator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62000" y="3924300"/>
            <a:ext cx="38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FF35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05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8250" y="3924300"/>
            <a:ext cx="4476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F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ASUS ProArt Design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38250" y="4162425"/>
            <a:ext cx="4476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asus.com/proart/about-proart/design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62000" y="4552950"/>
            <a:ext cx="38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FF35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06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8250" y="4552950"/>
            <a:ext cx="4476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F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Yahoo/Bnext AI Care Cases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38250" y="4791075"/>
            <a:ext cx="4476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tw.news.yahoo.com/...ai-medical-care-cases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91250" y="1219200"/>
            <a:ext cx="5448300" cy="4095750"/>
          </a:xfrm>
          <a:prstGeom prst="roundRect">
            <a:avLst>
              <a:gd name="adj" fmla="val 3256"/>
            </a:avLst>
          </a:prstGeom>
          <a:solidFill>
            <a:srgbClr val="171A1F"/>
          </a:solidFill>
          <a:ln w="12700">
            <a:solidFill>
              <a:srgbClr val="B7FF35">
                <a:alpha val="52000"/>
              </a:srgbClr>
            </a:solidFill>
            <a:prstDash val="solid"/>
          </a:ln>
          <a:effectLst>
            <a:outerShdw blurRad="152400" dist="38100" dir="2700000" algn="bl" rotWithShape="0">
              <a:srgbClr val="111827">
                <a:alpha val="34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6400800" y="1409700"/>
            <a:ext cx="38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FF35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07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77050" y="1409700"/>
            <a:ext cx="4476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F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Asahi / Reuters AIREC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77050" y="1647825"/>
            <a:ext cx="4476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asahi.com/ajw/articles/15648410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0" y="2038350"/>
            <a:ext cx="38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FF35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08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77050" y="2038350"/>
            <a:ext cx="4476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F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Edge Impulse Fall Detection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77050" y="2276475"/>
            <a:ext cx="4476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9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edgeimpulse.com/case-studies/revolutionizing-fall-detection-with-edge-ai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400800" y="2667000"/>
            <a:ext cx="38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FF35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09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877050" y="2667000"/>
            <a:ext cx="4476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F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Axiomtek / VISTATEC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77050" y="2905125"/>
            <a:ext cx="4476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axiomtek.com/resources/case-studies/privacy-preserving-edge-ai...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400800" y="3295650"/>
            <a:ext cx="38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FF35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10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877050" y="3295650"/>
            <a:ext cx="4476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F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MDPI Privacy Monitoring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877050" y="3533775"/>
            <a:ext cx="4476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mdpi.com/2076-3417/14/10/4150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00800" y="3924300"/>
            <a:ext cx="38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FF35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11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877050" y="3924300"/>
            <a:ext cx="4476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F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PMC Long-Term-Care Review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877050" y="4162425"/>
            <a:ext cx="4476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pmc.ncbi.nlm.nih.gov/articles/PMC11920668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00800" y="4552950"/>
            <a:ext cx="38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7FF35"/>
                </a:solidFill>
                <a:latin typeface="Franklin Gothic Medium Cond" pitchFamily="34" charset="0"/>
                <a:ea typeface="Franklin Gothic Medium Cond" pitchFamily="34" charset="-122"/>
                <a:cs typeface="Franklin Gothic Medium Cond" pitchFamily="34" charset="-120"/>
              </a:rPr>
              <a:t>12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877050" y="4552950"/>
            <a:ext cx="44767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F6F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MDPI Digital Fall Review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877050" y="4791075"/>
            <a:ext cx="4476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B0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mdpi.com/1648-9144/61/11/1926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81050" y="5695950"/>
            <a:ext cx="2381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81050" y="5905500"/>
            <a:ext cx="7429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35" dirty="0"/>
          </a:p>
        </p:txBody>
      </p:sp>
      <p:sp>
        <p:nvSpPr>
          <p:cNvPr id="46" name="Text 44"/>
          <p:cNvSpPr/>
          <p:nvPr/>
        </p:nvSpPr>
        <p:spPr>
          <a:xfrm>
            <a:off x="8858250" y="5734050"/>
            <a:ext cx="2476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200" dirty="0"/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C5EFA6DC-EC56-AC0F-D574-C63F1F727304}"/>
              </a:ext>
            </a:extLst>
          </p:cNvPr>
          <p:cNvSpPr txBox="1"/>
          <p:nvPr/>
        </p:nvSpPr>
        <p:spPr>
          <a:xfrm>
            <a:off x="6656474" y="636520"/>
            <a:ext cx="6096698" cy="526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821" b="1" dirty="0">
                <a:solidFill>
                  <a:srgbClr val="75FF00"/>
                </a:solidFill>
                <a:latin typeface="Noto Sans TC"/>
              </a:rPr>
              <a:t>Our </a:t>
            </a:r>
            <a:r>
              <a:rPr lang="zh-TW" altLang="en-US" sz="2821" b="1" dirty="0">
                <a:solidFill>
                  <a:srgbClr val="75FF00"/>
                </a:solidFill>
                <a:latin typeface="Noto Sans TC"/>
              </a:rPr>
              <a:t>  </a:t>
            </a:r>
            <a:r>
              <a:rPr lang="en-US" altLang="zh-TW" sz="2821" b="1" dirty="0">
                <a:solidFill>
                  <a:srgbClr val="75FF00"/>
                </a:solidFill>
                <a:latin typeface="Noto Sans TC"/>
              </a:rPr>
              <a:t>Team‘s Great</a:t>
            </a:r>
            <a:r>
              <a:rPr lang="zh-TW" altLang="en-US" sz="2821" b="1" dirty="0">
                <a:solidFill>
                  <a:srgbClr val="75FF00"/>
                </a:solidFill>
                <a:latin typeface="Noto Sans TC"/>
              </a:rPr>
              <a:t>  </a:t>
            </a:r>
            <a:r>
              <a:rPr lang="en-US" altLang="zh-TW" sz="2821" b="1" dirty="0">
                <a:solidFill>
                  <a:srgbClr val="75FF00"/>
                </a:solidFill>
                <a:latin typeface="Noto Sans TC"/>
              </a:rPr>
              <a:t> Dream</a:t>
            </a:r>
            <a:endParaRPr lang="zh-TW" altLang="en-US" dirty="0"/>
          </a:p>
        </p:txBody>
      </p:sp>
      <p:pic>
        <p:nvPicPr>
          <p:cNvPr id="50" name="圖片 49">
            <a:extLst>
              <a:ext uri="{FF2B5EF4-FFF2-40B4-BE49-F238E27FC236}">
                <a16:creationId xmlns:a16="http://schemas.microsoft.com/office/drawing/2014/main" id="{7761EA07-F8A3-667C-0A33-640C0C3B29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0747" y="1268100"/>
            <a:ext cx="1053553" cy="102614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1923</Words>
  <Application>Microsoft Office PowerPoint</Application>
  <PresentationFormat>寬螢幕</PresentationFormat>
  <Paragraphs>556</Paragraphs>
  <Slides>20</Slides>
  <Notes>20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20</vt:i4>
      </vt:variant>
    </vt:vector>
  </HeadingPairs>
  <TitlesOfParts>
    <vt:vector size="27" baseType="lpstr">
      <vt:lpstr>Noto Sans TC</vt:lpstr>
      <vt:lpstr>Arial</vt:lpstr>
      <vt:lpstr>Calibri</vt:lpstr>
      <vt:lpstr>Courier New</vt:lpstr>
      <vt:lpstr>Franklin Gothic Medium Cond</vt:lpstr>
      <vt:lpstr>Segoe UI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PptxGenJS Presentation</dc:subject>
  <dc:creator>ppt-js skill</dc:creator>
  <cp:lastModifiedBy>嚴稑榛</cp:lastModifiedBy>
  <cp:revision>4</cp:revision>
  <dcterms:created xsi:type="dcterms:W3CDTF">2026-10-06T18:03:02Z</dcterms:created>
  <dcterms:modified xsi:type="dcterms:W3CDTF">2026-10-12T17:12:33Z</dcterms:modified>
</cp:coreProperties>
</file>